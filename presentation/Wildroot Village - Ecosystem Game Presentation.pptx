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F18"/>
        </a:solidFill>
        <a:effectLst/>
      </p:bgPr>
    </p:bg>
    <p:spTree>
      <p:nvGrpSpPr>
        <p:cNvPr id="1" name=""/>
        <p:cNvGrpSpPr/>
        <p:nvPr/>
      </p:nvGrpSpPr>
      <p:grpSpPr/>
      <p:sp>
        <p:nvSpPr>
          <p:cNvPr id="2" name="Oval 1"/>
          <p:cNvSpPr/>
          <p:nvPr/>
        </p:nvSpPr>
        <p:spPr>
          <a:xfrm>
            <a:off x="-1234440" y="5102352"/>
            <a:ext cx="3657600" cy="2468880"/>
          </a:xfrm>
          <a:prstGeom prst="ellipse">
            <a:avLst/>
          </a:prstGeom>
          <a:solidFill>
            <a:srgbClr val="0D30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74519" y="-822960"/>
            <a:ext cx="1828800" cy="1143000"/>
          </a:xfrm>
          <a:prstGeom prst="ellipse">
            <a:avLst/>
          </a:prstGeom>
          <a:solidFill>
            <a:srgbClr val="0D30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0352" y="594360"/>
            <a:ext cx="45720" cy="749808"/>
          </a:xfrm>
          <a:prstGeom prst="rect">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8952" y="621792"/>
            <a:ext cx="411480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ECOSYSTEM VILLAGE PROJECT</a:t>
            </a:r>
          </a:p>
        </p:txBody>
      </p:sp>
      <p:sp>
        <p:nvSpPr>
          <p:cNvPr id="6" name="TextBox 5"/>
          <p:cNvSpPr txBox="1"/>
          <p:nvPr/>
        </p:nvSpPr>
        <p:spPr>
          <a:xfrm>
            <a:off x="731520" y="1078992"/>
            <a:ext cx="4389120" cy="1508760"/>
          </a:xfrm>
          <a:prstGeom prst="rect">
            <a:avLst/>
          </a:prstGeom>
          <a:noFill/>
        </p:spPr>
        <p:txBody>
          <a:bodyPr wrap="square" lIns="18288" rIns="18288" tIns="18288" bIns="18288" anchor="t">
            <a:spAutoFit/>
          </a:bodyPr>
          <a:lstStyle/>
          <a:p>
            <a:pPr algn="l">
              <a:spcAft>
                <a:spcPts val="0"/>
              </a:spcAft>
            </a:pPr>
            <a:r>
              <a:rPr sz="4300" b="1" i="0">
                <a:solidFill>
                  <a:srgbClr val="F3F1D5"/>
                </a:solidFill>
                <a:latin typeface="Georgia"/>
              </a:rPr>
              <a:t>Wildroot
Village</a:t>
            </a:r>
          </a:p>
        </p:txBody>
      </p:sp>
      <p:sp>
        <p:nvSpPr>
          <p:cNvPr id="7" name="TextBox 6"/>
          <p:cNvSpPr txBox="1"/>
          <p:nvPr/>
        </p:nvSpPr>
        <p:spPr>
          <a:xfrm>
            <a:off x="749808" y="2779776"/>
            <a:ext cx="4224528" cy="640080"/>
          </a:xfrm>
          <a:prstGeom prst="rect">
            <a:avLst/>
          </a:prstGeom>
          <a:noFill/>
        </p:spPr>
        <p:txBody>
          <a:bodyPr wrap="square" lIns="18288" rIns="18288" tIns="18288" bIns="18288" anchor="t">
            <a:spAutoFit/>
          </a:bodyPr>
          <a:lstStyle/>
          <a:p>
            <a:pPr algn="l">
              <a:spcAft>
                <a:spcPts val="0"/>
              </a:spcAft>
            </a:pPr>
            <a:r>
              <a:rPr sz="1850" b="0" i="0">
                <a:solidFill>
                  <a:srgbClr val="F7FAF4"/>
                </a:solidFill>
                <a:latin typeface="Aptos"/>
              </a:rPr>
              <a:t>An ecosystem-management and environmental learning game</a:t>
            </a:r>
          </a:p>
        </p:txBody>
      </p:sp>
      <p:sp>
        <p:nvSpPr>
          <p:cNvPr id="8" name="TextBox 7"/>
          <p:cNvSpPr txBox="1"/>
          <p:nvPr/>
        </p:nvSpPr>
        <p:spPr>
          <a:xfrm>
            <a:off x="749808" y="3584448"/>
            <a:ext cx="4407408" cy="713232"/>
          </a:xfrm>
          <a:prstGeom prst="rect">
            <a:avLst/>
          </a:prstGeom>
          <a:noFill/>
        </p:spPr>
        <p:txBody>
          <a:bodyPr wrap="square" lIns="18288" rIns="18288" tIns="18288" bIns="18288" anchor="t">
            <a:spAutoFit/>
          </a:bodyPr>
          <a:lstStyle/>
          <a:p>
            <a:pPr algn="l">
              <a:spcAft>
                <a:spcPts val="0"/>
              </a:spcAft>
            </a:pPr>
            <a:r>
              <a:rPr sz="1750" b="0" i="1">
                <a:solidFill>
                  <a:srgbClr val="A7E87D"/>
                </a:solidFill>
                <a:latin typeface="Georgia"/>
              </a:rPr>
              <a:t>Grow a home in the forest.
Leave enough wildness for tomorrow.</a:t>
            </a:r>
          </a:p>
        </p:txBody>
      </p:sp>
      <p:sp>
        <p:nvSpPr>
          <p:cNvPr id="9" name="Rounded Rectangle 8"/>
          <p:cNvSpPr/>
          <p:nvPr/>
        </p:nvSpPr>
        <p:spPr>
          <a:xfrm>
            <a:off x="749808" y="4617720"/>
            <a:ext cx="1152144" cy="384048"/>
          </a:xfrm>
          <a:prstGeom prst="roundRect">
            <a:avLst/>
          </a:prstGeom>
          <a:solidFill>
            <a:srgbClr val="173F31"/>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4690872"/>
            <a:ext cx="1152144" cy="146304"/>
          </a:xfrm>
          <a:prstGeom prst="rect">
            <a:avLst/>
          </a:prstGeom>
          <a:noFill/>
        </p:spPr>
        <p:txBody>
          <a:bodyPr wrap="square" lIns="18288" rIns="18288" tIns="18288" bIns="18288" anchor="t">
            <a:spAutoFit/>
          </a:bodyPr>
          <a:lstStyle/>
          <a:p>
            <a:pPr algn="ctr">
              <a:spcAft>
                <a:spcPts val="0"/>
              </a:spcAft>
            </a:pPr>
            <a:r>
              <a:rPr sz="880" b="1" i="0">
                <a:solidFill>
                  <a:srgbClr val="A7E87D"/>
                </a:solidFill>
                <a:latin typeface="Aptos"/>
              </a:rPr>
              <a:t>BUILD</a:t>
            </a:r>
          </a:p>
        </p:txBody>
      </p:sp>
      <p:sp>
        <p:nvSpPr>
          <p:cNvPr id="11" name="Rounded Rectangle 10"/>
          <p:cNvSpPr/>
          <p:nvPr/>
        </p:nvSpPr>
        <p:spPr>
          <a:xfrm>
            <a:off x="2048255" y="4617720"/>
            <a:ext cx="1152144" cy="384048"/>
          </a:xfrm>
          <a:prstGeom prst="roundRect">
            <a:avLst/>
          </a:prstGeom>
          <a:solidFill>
            <a:srgbClr val="173F31"/>
          </a:solidFill>
          <a:ln w="10160">
            <a:solidFill>
              <a:srgbClr val="6FC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48255" y="4690872"/>
            <a:ext cx="1152144" cy="146304"/>
          </a:xfrm>
          <a:prstGeom prst="rect">
            <a:avLst/>
          </a:prstGeom>
          <a:noFill/>
        </p:spPr>
        <p:txBody>
          <a:bodyPr wrap="square" lIns="18288" rIns="18288" tIns="18288" bIns="18288" anchor="t">
            <a:spAutoFit/>
          </a:bodyPr>
          <a:lstStyle/>
          <a:p>
            <a:pPr algn="ctr">
              <a:spcAft>
                <a:spcPts val="0"/>
              </a:spcAft>
            </a:pPr>
            <a:r>
              <a:rPr sz="880" b="1" i="0">
                <a:solidFill>
                  <a:srgbClr val="6FC3D5"/>
                </a:solidFill>
                <a:latin typeface="Aptos"/>
              </a:rPr>
              <a:t>SIMULATE</a:t>
            </a:r>
          </a:p>
        </p:txBody>
      </p:sp>
      <p:sp>
        <p:nvSpPr>
          <p:cNvPr id="13" name="Rounded Rectangle 12"/>
          <p:cNvSpPr/>
          <p:nvPr/>
        </p:nvSpPr>
        <p:spPr>
          <a:xfrm>
            <a:off x="3346703" y="4617720"/>
            <a:ext cx="1152144" cy="384048"/>
          </a:xfrm>
          <a:prstGeom prst="roundRect">
            <a:avLst/>
          </a:prstGeom>
          <a:solidFill>
            <a:srgbClr val="173F31"/>
          </a:solidFill>
          <a:ln w="10160">
            <a:solidFill>
              <a:srgbClr val="E4C9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46703" y="4690872"/>
            <a:ext cx="1152144" cy="146304"/>
          </a:xfrm>
          <a:prstGeom prst="rect">
            <a:avLst/>
          </a:prstGeom>
          <a:noFill/>
        </p:spPr>
        <p:txBody>
          <a:bodyPr wrap="square" lIns="18288" rIns="18288" tIns="18288" bIns="18288" anchor="t">
            <a:spAutoFit/>
          </a:bodyPr>
          <a:lstStyle/>
          <a:p>
            <a:pPr algn="ctr">
              <a:spcAft>
                <a:spcPts val="0"/>
              </a:spcAft>
            </a:pPr>
            <a:r>
              <a:rPr sz="880" b="1" i="0">
                <a:solidFill>
                  <a:srgbClr val="E4C967"/>
                </a:solidFill>
                <a:latin typeface="Aptos"/>
              </a:rPr>
              <a:t>LEARN</a:t>
            </a:r>
          </a:p>
        </p:txBody>
      </p:sp>
      <p:sp>
        <p:nvSpPr>
          <p:cNvPr id="15" name="Rounded Rectangle 14"/>
          <p:cNvSpPr/>
          <p:nvPr/>
        </p:nvSpPr>
        <p:spPr>
          <a:xfrm>
            <a:off x="749808" y="5120640"/>
            <a:ext cx="1481328" cy="310896"/>
          </a:xfrm>
          <a:prstGeom prst="roundRect">
            <a:avLst/>
          </a:prstGeom>
          <a:solidFill>
            <a:srgbClr val="0A281F"/>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5202936"/>
            <a:ext cx="1481328" cy="100584"/>
          </a:xfrm>
          <a:prstGeom prst="rect">
            <a:avLst/>
          </a:prstGeom>
          <a:noFill/>
        </p:spPr>
        <p:txBody>
          <a:bodyPr wrap="square" lIns="18288" rIns="18288" tIns="18288" bIns="18288" anchor="t">
            <a:spAutoFit/>
          </a:bodyPr>
          <a:lstStyle/>
          <a:p>
            <a:pPr algn="ctr">
              <a:spcAft>
                <a:spcPts val="0"/>
              </a:spcAft>
            </a:pPr>
            <a:r>
              <a:rPr sz="690" b="1" i="0">
                <a:solidFill>
                  <a:srgbClr val="A7E87D"/>
                </a:solidFill>
                <a:latin typeface="Aptos"/>
              </a:rPr>
              <a:t>≈ 3-MINUTE PRESENTATION</a:t>
            </a:r>
          </a:p>
        </p:txBody>
      </p:sp>
      <p:sp>
        <p:nvSpPr>
          <p:cNvPr id="17" name="TextBox 16"/>
          <p:cNvSpPr txBox="1"/>
          <p:nvPr/>
        </p:nvSpPr>
        <p:spPr>
          <a:xfrm>
            <a:off x="749808" y="5632704"/>
            <a:ext cx="2377440" cy="164592"/>
          </a:xfrm>
          <a:prstGeom prst="rect">
            <a:avLst/>
          </a:prstGeom>
          <a:noFill/>
        </p:spPr>
        <p:txBody>
          <a:bodyPr wrap="square" lIns="18288" rIns="18288" tIns="18288" bIns="18288" anchor="t">
            <a:spAutoFit/>
          </a:bodyPr>
          <a:lstStyle/>
          <a:p>
            <a:pPr algn="l">
              <a:spcAft>
                <a:spcPts val="0"/>
              </a:spcAft>
            </a:pPr>
            <a:r>
              <a:rPr sz="850" b="1" i="0">
                <a:solidFill>
                  <a:srgbClr val="7F9B89"/>
                </a:solidFill>
                <a:latin typeface="Aptos"/>
              </a:rPr>
              <a:t>CREATED BY</a:t>
            </a:r>
          </a:p>
        </p:txBody>
      </p:sp>
      <p:sp>
        <p:nvSpPr>
          <p:cNvPr id="18" name="TextBox 17"/>
          <p:cNvSpPr txBox="1"/>
          <p:nvPr/>
        </p:nvSpPr>
        <p:spPr>
          <a:xfrm>
            <a:off x="749808" y="5824728"/>
            <a:ext cx="2560320" cy="210312"/>
          </a:xfrm>
          <a:prstGeom prst="rect">
            <a:avLst/>
          </a:prstGeom>
          <a:noFill/>
        </p:spPr>
        <p:txBody>
          <a:bodyPr wrap="square" lIns="18288" rIns="18288" tIns="18288" bIns="18288" anchor="t">
            <a:spAutoFit/>
          </a:bodyPr>
          <a:lstStyle/>
          <a:p>
            <a:pPr algn="l">
              <a:spcAft>
                <a:spcPts val="0"/>
              </a:spcAft>
            </a:pPr>
            <a:r>
              <a:rPr sz="1120" b="1" i="0">
                <a:solidFill>
                  <a:srgbClr val="F3F1D5"/>
                </a:solidFill>
                <a:latin typeface="Aptos"/>
              </a:rPr>
              <a:t>James · age 13</a:t>
            </a:r>
          </a:p>
        </p:txBody>
      </p:sp>
      <p:sp>
        <p:nvSpPr>
          <p:cNvPr id="19" name="TextBox 18"/>
          <p:cNvSpPr txBox="1"/>
          <p:nvPr/>
        </p:nvSpPr>
        <p:spPr>
          <a:xfrm>
            <a:off x="749808" y="6080760"/>
            <a:ext cx="2377440" cy="146304"/>
          </a:xfrm>
          <a:prstGeom prst="rect">
            <a:avLst/>
          </a:prstGeom>
          <a:noFill/>
        </p:spPr>
        <p:txBody>
          <a:bodyPr wrap="square" lIns="18288" rIns="18288" tIns="18288" bIns="18288" anchor="t">
            <a:spAutoFit/>
          </a:bodyPr>
          <a:lstStyle/>
          <a:p>
            <a:pPr algn="l">
              <a:spcAft>
                <a:spcPts val="0"/>
              </a:spcAft>
            </a:pPr>
            <a:r>
              <a:rPr sz="780" b="1" i="0">
                <a:solidFill>
                  <a:srgbClr val="7F9B89"/>
                </a:solidFill>
                <a:latin typeface="Aptos"/>
              </a:rPr>
              <a:t>PRESENTED BY</a:t>
            </a:r>
          </a:p>
        </p:txBody>
      </p:sp>
      <p:sp>
        <p:nvSpPr>
          <p:cNvPr id="20" name="TextBox 19"/>
          <p:cNvSpPr txBox="1"/>
          <p:nvPr/>
        </p:nvSpPr>
        <p:spPr>
          <a:xfrm>
            <a:off x="749808" y="6245352"/>
            <a:ext cx="2560320" cy="182880"/>
          </a:xfrm>
          <a:prstGeom prst="rect">
            <a:avLst/>
          </a:prstGeom>
          <a:noFill/>
        </p:spPr>
        <p:txBody>
          <a:bodyPr wrap="square" lIns="18288" rIns="18288" tIns="18288" bIns="18288" anchor="t">
            <a:spAutoFit/>
          </a:bodyPr>
          <a:lstStyle/>
          <a:p>
            <a:pPr algn="l">
              <a:spcAft>
                <a:spcPts val="0"/>
              </a:spcAft>
            </a:pPr>
            <a:r>
              <a:rPr sz="980" b="1" i="0">
                <a:solidFill>
                  <a:srgbClr val="A7E87D"/>
                </a:solidFill>
                <a:latin typeface="Aptos"/>
              </a:rPr>
              <a:t>Daniel Bryar</a:t>
            </a:r>
          </a:p>
        </p:txBody>
      </p:sp>
      <p:sp>
        <p:nvSpPr>
          <p:cNvPr id="21" name="Rounded Rectangle 20"/>
          <p:cNvSpPr/>
          <p:nvPr/>
        </p:nvSpPr>
        <p:spPr>
          <a:xfrm>
            <a:off x="5431536" y="393192"/>
            <a:ext cx="6281928" cy="6035040"/>
          </a:xfrm>
          <a:prstGeom prst="roundRect">
            <a:avLst/>
          </a:prstGeom>
          <a:solidFill>
            <a:srgbClr val="061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itle-screen.png"/>
          <p:cNvPicPr>
            <a:picLocks noChangeAspect="1"/>
          </p:cNvPicPr>
          <p:nvPr/>
        </p:nvPicPr>
        <p:blipFill>
          <a:blip r:embed="rId2"/>
          <a:srcRect l="20641" r="20641"/>
          <a:stretch>
            <a:fillRect/>
          </a:stretch>
        </p:blipFill>
        <p:spPr>
          <a:xfrm>
            <a:off x="5532120" y="493776"/>
            <a:ext cx="6089904" cy="5833872"/>
          </a:xfrm>
          <a:prstGeom prst="rect">
            <a:avLst/>
          </a:prstGeom>
        </p:spPr>
      </p:pic>
      <p:sp>
        <p:nvSpPr>
          <p:cNvPr id="23" name="Rectangle 22"/>
          <p:cNvSpPr/>
          <p:nvPr/>
        </p:nvSpPr>
        <p:spPr>
          <a:xfrm>
            <a:off x="5532120" y="493776"/>
            <a:ext cx="6089904" cy="5833872"/>
          </a:xfrm>
          <a:prstGeom prst="rect">
            <a:avLst/>
          </a:prstGeom>
          <a:noFill/>
          <a:ln w="1651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93808" y="5824728"/>
            <a:ext cx="1435608" cy="338328"/>
          </a:xfrm>
          <a:prstGeom prst="roundRect">
            <a:avLst/>
          </a:prstGeom>
          <a:solidFill>
            <a:srgbClr val="0A281F"/>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93808" y="5907024"/>
            <a:ext cx="1435608" cy="118872"/>
          </a:xfrm>
          <a:prstGeom prst="rect">
            <a:avLst/>
          </a:prstGeom>
          <a:noFill/>
        </p:spPr>
        <p:txBody>
          <a:bodyPr wrap="square" lIns="18288" rIns="18288" tIns="18288" bIns="18288" anchor="t">
            <a:spAutoFit/>
          </a:bodyPr>
          <a:lstStyle/>
          <a:p>
            <a:pPr algn="ctr">
              <a:spcAft>
                <a:spcPts val="0"/>
              </a:spcAft>
            </a:pPr>
            <a:r>
              <a:rPr sz="760" b="1" i="0">
                <a:solidFill>
                  <a:srgbClr val="A7E87D"/>
                </a:solidFill>
                <a:latin typeface="Aptos"/>
              </a:rPr>
              <a:t>OPENING SCREEN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F18"/>
        </a:solidFill>
        <a:effectLst/>
      </p:bgPr>
    </p:bg>
    <p:spTree>
      <p:nvGrpSpPr>
        <p:cNvPr id="1" name=""/>
        <p:cNvGrpSpPr/>
        <p:nvPr/>
      </p:nvGrpSpPr>
      <p:grpSpPr/>
      <p:sp>
        <p:nvSpPr>
          <p:cNvPr id="2" name="TextBox 1"/>
          <p:cNvSpPr txBox="1"/>
          <p:nvPr/>
        </p:nvSpPr>
        <p:spPr>
          <a:xfrm>
            <a:off x="475488" y="256032"/>
            <a:ext cx="530352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CREATOR STORY · JAMES, AGE 13</a:t>
            </a:r>
          </a:p>
        </p:txBody>
      </p:sp>
      <p:sp>
        <p:nvSpPr>
          <p:cNvPr id="3" name="TextBox 2"/>
          <p:cNvSpPr txBox="1"/>
          <p:nvPr/>
        </p:nvSpPr>
        <p:spPr>
          <a:xfrm>
            <a:off x="475488" y="493776"/>
            <a:ext cx="10698480" cy="475488"/>
          </a:xfrm>
          <a:prstGeom prst="rect">
            <a:avLst/>
          </a:prstGeom>
          <a:noFill/>
        </p:spPr>
        <p:txBody>
          <a:bodyPr wrap="square" lIns="18288" rIns="18288" tIns="18288" bIns="18288" anchor="t">
            <a:spAutoFit/>
          </a:bodyPr>
          <a:lstStyle/>
          <a:p>
            <a:pPr algn="l">
              <a:spcAft>
                <a:spcPts val="0"/>
              </a:spcAft>
            </a:pPr>
            <a:r>
              <a:rPr sz="2800" b="1" i="0">
                <a:solidFill>
                  <a:srgbClr val="F3F1D5"/>
                </a:solidFill>
                <a:latin typeface="Georgia"/>
              </a:rPr>
              <a:t>Why I created Wildroot Village</a:t>
            </a:r>
          </a:p>
        </p:txBody>
      </p:sp>
      <p:sp>
        <p:nvSpPr>
          <p:cNvPr id="4" name="TextBox 3"/>
          <p:cNvSpPr txBox="1"/>
          <p:nvPr/>
        </p:nvSpPr>
        <p:spPr>
          <a:xfrm>
            <a:off x="493776" y="932688"/>
            <a:ext cx="10607040" cy="292608"/>
          </a:xfrm>
          <a:prstGeom prst="rect">
            <a:avLst/>
          </a:prstGeom>
          <a:noFill/>
        </p:spPr>
        <p:txBody>
          <a:bodyPr wrap="square" lIns="18288" rIns="18288" tIns="18288" bIns="18288" anchor="t">
            <a:spAutoFit/>
          </a:bodyPr>
          <a:lstStyle/>
          <a:p>
            <a:pPr algn="l">
              <a:spcAft>
                <a:spcPts val="0"/>
              </a:spcAft>
            </a:pPr>
            <a:r>
              <a:rPr sz="1120" b="0" i="0">
                <a:solidFill>
                  <a:srgbClr val="B6C9BB"/>
                </a:solidFill>
                <a:latin typeface="Aptos"/>
              </a:rPr>
              <a:t>An idea inspired by climate change, global warming and the power of environmental education.</a:t>
            </a:r>
          </a:p>
        </p:txBody>
      </p:sp>
      <p:sp>
        <p:nvSpPr>
          <p:cNvPr id="5" name="TextBox 4"/>
          <p:cNvSpPr txBox="1"/>
          <p:nvPr/>
        </p:nvSpPr>
        <p:spPr>
          <a:xfrm>
            <a:off x="11265408" y="338328"/>
            <a:ext cx="438912" cy="274320"/>
          </a:xfrm>
          <a:prstGeom prst="rect">
            <a:avLst/>
          </a:prstGeom>
          <a:noFill/>
        </p:spPr>
        <p:txBody>
          <a:bodyPr wrap="square" lIns="18288" rIns="18288" tIns="18288" bIns="18288" anchor="t">
            <a:spAutoFit/>
          </a:bodyPr>
          <a:lstStyle/>
          <a:p>
            <a:pPr algn="r">
              <a:spcAft>
                <a:spcPts val="0"/>
              </a:spcAft>
            </a:pPr>
            <a:r>
              <a:rPr sz="1000" b="1" i="0">
                <a:solidFill>
                  <a:srgbClr val="A7E87D"/>
                </a:solidFill>
                <a:latin typeface="Aptos"/>
              </a:rPr>
              <a:t>02</a:t>
            </a:r>
          </a:p>
        </p:txBody>
      </p:sp>
      <p:sp>
        <p:nvSpPr>
          <p:cNvPr id="6" name="Rectangle 5"/>
          <p:cNvSpPr/>
          <p:nvPr/>
        </p:nvSpPr>
        <p:spPr>
          <a:xfrm>
            <a:off x="11804904" y="274320"/>
            <a:ext cx="27432" cy="502920"/>
          </a:xfrm>
          <a:prstGeom prst="rect">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5488" y="1335024"/>
            <a:ext cx="4709160" cy="4279392"/>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1572768"/>
            <a:ext cx="1874519" cy="365760"/>
          </a:xfrm>
          <a:prstGeom prst="roundRect">
            <a:avLst/>
          </a:prstGeom>
          <a:solidFill>
            <a:srgbClr val="0A281F"/>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664208"/>
            <a:ext cx="1874519" cy="118872"/>
          </a:xfrm>
          <a:prstGeom prst="rect">
            <a:avLst/>
          </a:prstGeom>
          <a:noFill/>
        </p:spPr>
        <p:txBody>
          <a:bodyPr wrap="square" lIns="18288" rIns="18288" tIns="18288" bIns="18288" anchor="t">
            <a:spAutoFit/>
          </a:bodyPr>
          <a:lstStyle/>
          <a:p>
            <a:pPr algn="ctr">
              <a:spcAft>
                <a:spcPts val="0"/>
              </a:spcAft>
            </a:pPr>
            <a:r>
              <a:rPr sz="780" b="1" i="0">
                <a:solidFill>
                  <a:srgbClr val="A7E87D"/>
                </a:solidFill>
                <a:latin typeface="Aptos"/>
              </a:rPr>
              <a:t>JAMES  ·  CREATOR  ·  AGE 13</a:t>
            </a:r>
          </a:p>
        </p:txBody>
      </p:sp>
      <p:sp>
        <p:nvSpPr>
          <p:cNvPr id="10" name="Rounded Rectangle 9"/>
          <p:cNvSpPr/>
          <p:nvPr/>
        </p:nvSpPr>
        <p:spPr>
          <a:xfrm>
            <a:off x="2724912" y="1572768"/>
            <a:ext cx="2176272" cy="365760"/>
          </a:xfrm>
          <a:prstGeom prst="roundRect">
            <a:avLst/>
          </a:prstGeom>
          <a:solidFill>
            <a:srgbClr val="0A281F"/>
          </a:solidFill>
          <a:ln w="10160">
            <a:solidFill>
              <a:srgbClr val="E4C9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24912" y="1664208"/>
            <a:ext cx="2176272" cy="118872"/>
          </a:xfrm>
          <a:prstGeom prst="rect">
            <a:avLst/>
          </a:prstGeom>
          <a:noFill/>
        </p:spPr>
        <p:txBody>
          <a:bodyPr wrap="square" lIns="18288" rIns="18288" tIns="18288" bIns="18288" anchor="t">
            <a:spAutoFit/>
          </a:bodyPr>
          <a:lstStyle/>
          <a:p>
            <a:pPr algn="ctr">
              <a:spcAft>
                <a:spcPts val="0"/>
              </a:spcAft>
            </a:pPr>
            <a:r>
              <a:rPr sz="710" b="1" i="0">
                <a:solidFill>
                  <a:srgbClr val="E4C967"/>
                </a:solidFill>
                <a:latin typeface="Aptos"/>
              </a:rPr>
              <a:t>PRESENTED BY  ·  DANIEL BRYAR</a:t>
            </a:r>
          </a:p>
        </p:txBody>
      </p:sp>
      <p:sp>
        <p:nvSpPr>
          <p:cNvPr id="12" name="TextBox 11"/>
          <p:cNvSpPr txBox="1"/>
          <p:nvPr/>
        </p:nvSpPr>
        <p:spPr>
          <a:xfrm>
            <a:off x="749808" y="2103120"/>
            <a:ext cx="4151376" cy="1280160"/>
          </a:xfrm>
          <a:prstGeom prst="rect">
            <a:avLst/>
          </a:prstGeom>
          <a:noFill/>
        </p:spPr>
        <p:txBody>
          <a:bodyPr wrap="square" lIns="18288" rIns="18288" tIns="18288" bIns="18288" anchor="t">
            <a:spAutoFit/>
          </a:bodyPr>
          <a:lstStyle/>
          <a:p>
            <a:pPr algn="l">
              <a:spcAft>
                <a:spcPts val="0"/>
              </a:spcAft>
            </a:pPr>
            <a:r>
              <a:rPr sz="2050" b="0" i="1">
                <a:solidFill>
                  <a:srgbClr val="F3F1D5"/>
                </a:solidFill>
                <a:latin typeface="Georgia"/>
              </a:rPr>
              <a:t>“Yesterday, thinking about climate change and global warming gave me an idea: a game that helps kids see how every building choice can change the environment.”</a:t>
            </a:r>
          </a:p>
        </p:txBody>
      </p:sp>
      <p:sp>
        <p:nvSpPr>
          <p:cNvPr id="13" name="Rectangle 12"/>
          <p:cNvSpPr/>
          <p:nvPr/>
        </p:nvSpPr>
        <p:spPr>
          <a:xfrm>
            <a:off x="749808" y="3584448"/>
            <a:ext cx="438912" cy="36576"/>
          </a:xfrm>
          <a:prstGeom prst="rect">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776472"/>
            <a:ext cx="4151376" cy="932688"/>
          </a:xfrm>
          <a:prstGeom prst="rect">
            <a:avLst/>
          </a:prstGeom>
          <a:noFill/>
        </p:spPr>
        <p:txBody>
          <a:bodyPr wrap="square" lIns="18288" rIns="18288" tIns="18288" bIns="18288" anchor="t">
            <a:spAutoFit/>
          </a:bodyPr>
          <a:lstStyle/>
          <a:p>
            <a:pPr algn="l">
              <a:spcAft>
                <a:spcPts val="0"/>
              </a:spcAft>
            </a:pPr>
            <a:r>
              <a:rPr sz="1180" b="0" i="0">
                <a:solidFill>
                  <a:srgbClr val="B6C9BB"/>
                </a:solidFill>
                <a:latin typeface="Aptos"/>
              </a:rPr>
              <a:t>I want children to learn by making decisions and watching the results—not only by reading facts. Learning is integrated into the game through the Eco Coach, field missions, knowledge checks, inspections and scenarios.</a:t>
            </a:r>
          </a:p>
        </p:txBody>
      </p:sp>
      <p:sp>
        <p:nvSpPr>
          <p:cNvPr id="15" name="Rounded Rectangle 14"/>
          <p:cNvSpPr/>
          <p:nvPr/>
        </p:nvSpPr>
        <p:spPr>
          <a:xfrm>
            <a:off x="749808" y="4855464"/>
            <a:ext cx="4151376" cy="530352"/>
          </a:xfrm>
          <a:prstGeom prst="roundRect">
            <a:avLst/>
          </a:prstGeom>
          <a:solidFill>
            <a:srgbClr val="0A281F"/>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965192"/>
            <a:ext cx="1005840" cy="137160"/>
          </a:xfrm>
          <a:prstGeom prst="rect">
            <a:avLst/>
          </a:prstGeom>
          <a:noFill/>
        </p:spPr>
        <p:txBody>
          <a:bodyPr wrap="square" lIns="18288" rIns="18288" tIns="18288" bIns="18288" anchor="t">
            <a:spAutoFit/>
          </a:bodyPr>
          <a:lstStyle/>
          <a:p>
            <a:pPr algn="l">
              <a:spcAft>
                <a:spcPts val="0"/>
              </a:spcAft>
            </a:pPr>
            <a:r>
              <a:rPr sz="770" b="1" i="0">
                <a:solidFill>
                  <a:srgbClr val="A7E87D"/>
                </a:solidFill>
                <a:latin typeface="Aptos"/>
              </a:rPr>
              <a:t>OVERALL GOAL</a:t>
            </a:r>
          </a:p>
        </p:txBody>
      </p:sp>
      <p:sp>
        <p:nvSpPr>
          <p:cNvPr id="17" name="TextBox 16"/>
          <p:cNvSpPr txBox="1"/>
          <p:nvPr/>
        </p:nvSpPr>
        <p:spPr>
          <a:xfrm>
            <a:off x="1938528" y="4928616"/>
            <a:ext cx="2770632" cy="219456"/>
          </a:xfrm>
          <a:prstGeom prst="rect">
            <a:avLst/>
          </a:prstGeom>
          <a:noFill/>
        </p:spPr>
        <p:txBody>
          <a:bodyPr wrap="square" lIns="18288" rIns="18288" tIns="18288" bIns="18288" anchor="t">
            <a:spAutoFit/>
          </a:bodyPr>
          <a:lstStyle/>
          <a:p>
            <a:pPr algn="l">
              <a:spcAft>
                <a:spcPts val="0"/>
              </a:spcAft>
            </a:pPr>
            <a:r>
              <a:rPr sz="1019" b="1" i="0">
                <a:solidFill>
                  <a:srgbClr val="F3F1D5"/>
                </a:solidFill>
                <a:latin typeface="Aptos"/>
              </a:rPr>
              <a:t>Create a thriving village with a healthy ecosystem.</a:t>
            </a:r>
          </a:p>
        </p:txBody>
      </p:sp>
      <p:sp>
        <p:nvSpPr>
          <p:cNvPr id="18" name="Rounded Rectangle 17"/>
          <p:cNvSpPr/>
          <p:nvPr/>
        </p:nvSpPr>
        <p:spPr>
          <a:xfrm>
            <a:off x="5413248" y="1335024"/>
            <a:ext cx="6300216" cy="4279392"/>
          </a:xfrm>
          <a:prstGeom prst="roundRect">
            <a:avLst/>
          </a:prstGeom>
          <a:solidFill>
            <a:srgbClr val="0A281F"/>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87568" y="1572768"/>
            <a:ext cx="544068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ONE SIMPLE BUILDING CAN CHANGE A WHOLE SYSTEM</a:t>
            </a:r>
          </a:p>
        </p:txBody>
      </p:sp>
      <p:sp>
        <p:nvSpPr>
          <p:cNvPr id="20" name="Isosceles Triangle 19"/>
          <p:cNvSpPr/>
          <p:nvPr/>
        </p:nvSpPr>
        <p:spPr>
          <a:xfrm>
            <a:off x="8092440" y="2496312"/>
            <a:ext cx="1188720" cy="749808"/>
          </a:xfrm>
          <a:prstGeom prst="triangle">
            <a:avLst/>
          </a:prstGeom>
          <a:solidFill>
            <a:srgbClr val="E4C967"/>
          </a:solidFill>
          <a:ln w="12700">
            <a:solidFill>
              <a:srgbClr val="E4C9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2980944"/>
            <a:ext cx="914400" cy="841248"/>
          </a:xfrm>
          <a:prstGeom prst="rect">
            <a:avLst/>
          </a:prstGeom>
          <a:solidFill>
            <a:srgbClr val="D9D7B9"/>
          </a:solidFill>
          <a:ln w="12700">
            <a:solidFill>
              <a:srgbClr val="E4C9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86216" y="3328416"/>
            <a:ext cx="210312" cy="493776"/>
          </a:xfrm>
          <a:prstGeom prst="rect">
            <a:avLst/>
          </a:prstGeom>
          <a:solidFill>
            <a:srgbClr val="173F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39327" y="3145536"/>
            <a:ext cx="164592" cy="164592"/>
          </a:xfrm>
          <a:prstGeom prst="rect">
            <a:avLst/>
          </a:prstGeom>
          <a:solidFill>
            <a:srgbClr val="6FC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0536" y="3145536"/>
            <a:ext cx="164592" cy="164592"/>
          </a:xfrm>
          <a:prstGeom prst="rect">
            <a:avLst/>
          </a:prstGeom>
          <a:solidFill>
            <a:srgbClr val="6FC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3913632"/>
            <a:ext cx="1335024" cy="420624"/>
          </a:xfrm>
          <a:prstGeom prst="rect">
            <a:avLst/>
          </a:prstGeom>
          <a:noFill/>
        </p:spPr>
        <p:txBody>
          <a:bodyPr wrap="square" lIns="18288" rIns="18288" tIns="18288" bIns="18288" anchor="t">
            <a:spAutoFit/>
          </a:bodyPr>
          <a:lstStyle/>
          <a:p>
            <a:pPr algn="ctr">
              <a:spcAft>
                <a:spcPts val="0"/>
              </a:spcAft>
            </a:pPr>
            <a:r>
              <a:rPr sz="940" b="1" i="0">
                <a:solidFill>
                  <a:srgbClr val="E4C967"/>
                </a:solidFill>
                <a:latin typeface="Aptos"/>
              </a:rPr>
              <a:t>A SIMPLE
BUILDING</a:t>
            </a:r>
          </a:p>
        </p:txBody>
      </p:sp>
      <p:sp>
        <p:nvSpPr>
          <p:cNvPr id="26" name="Rounded Rectangle 25"/>
          <p:cNvSpPr/>
          <p:nvPr/>
        </p:nvSpPr>
        <p:spPr>
          <a:xfrm>
            <a:off x="5715000" y="2066543"/>
            <a:ext cx="2057400" cy="658368"/>
          </a:xfrm>
          <a:prstGeom prst="roundRect">
            <a:avLst/>
          </a:prstGeom>
          <a:solidFill>
            <a:srgbClr val="10372A"/>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43016" y="2221991"/>
            <a:ext cx="201168" cy="201168"/>
          </a:xfrm>
          <a:prstGeom prst="ellipse">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44768" y="2176272"/>
            <a:ext cx="1508760" cy="155448"/>
          </a:xfrm>
          <a:prstGeom prst="rect">
            <a:avLst/>
          </a:prstGeom>
          <a:noFill/>
        </p:spPr>
        <p:txBody>
          <a:bodyPr wrap="square" lIns="18288" rIns="18288" tIns="18288" bIns="18288" anchor="t">
            <a:spAutoFit/>
          </a:bodyPr>
          <a:lstStyle/>
          <a:p>
            <a:pPr algn="l">
              <a:spcAft>
                <a:spcPts val="0"/>
              </a:spcAft>
            </a:pPr>
            <a:r>
              <a:rPr sz="860" b="1" i="0">
                <a:solidFill>
                  <a:srgbClr val="A7E87D"/>
                </a:solidFill>
                <a:latin typeface="Aptos"/>
              </a:rPr>
              <a:t>HABITAT</a:t>
            </a:r>
          </a:p>
        </p:txBody>
      </p:sp>
      <p:sp>
        <p:nvSpPr>
          <p:cNvPr id="29" name="TextBox 28"/>
          <p:cNvSpPr txBox="1"/>
          <p:nvPr/>
        </p:nvSpPr>
        <p:spPr>
          <a:xfrm>
            <a:off x="6144768" y="2386584"/>
            <a:ext cx="1508760" cy="182880"/>
          </a:xfrm>
          <a:prstGeom prst="rect">
            <a:avLst/>
          </a:prstGeom>
          <a:noFill/>
        </p:spPr>
        <p:txBody>
          <a:bodyPr wrap="square" lIns="18288" rIns="18288" tIns="18288" bIns="18288" anchor="t">
            <a:spAutoFit/>
          </a:bodyPr>
          <a:lstStyle/>
          <a:p>
            <a:pPr algn="l">
              <a:spcAft>
                <a:spcPts val="0"/>
              </a:spcAft>
            </a:pPr>
            <a:r>
              <a:rPr sz="770" b="0" i="0">
                <a:solidFill>
                  <a:srgbClr val="B6C9BB"/>
                </a:solidFill>
                <a:latin typeface="Aptos"/>
              </a:rPr>
              <a:t>clear it or protect it</a:t>
            </a:r>
          </a:p>
        </p:txBody>
      </p:sp>
      <p:sp>
        <p:nvSpPr>
          <p:cNvPr id="30" name="Rounded Rectangle 29"/>
          <p:cNvSpPr/>
          <p:nvPr/>
        </p:nvSpPr>
        <p:spPr>
          <a:xfrm>
            <a:off x="9646920" y="2066543"/>
            <a:ext cx="2057400" cy="658368"/>
          </a:xfrm>
          <a:prstGeom prst="roundRect">
            <a:avLst/>
          </a:prstGeom>
          <a:solidFill>
            <a:srgbClr val="10372A"/>
          </a:solidFill>
          <a:ln w="10160">
            <a:solidFill>
              <a:srgbClr val="6FC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774936" y="2221991"/>
            <a:ext cx="201168" cy="201168"/>
          </a:xfrm>
          <a:prstGeom prst="ellipse">
            <a:avLst/>
          </a:prstGeom>
          <a:solidFill>
            <a:srgbClr val="6FC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76688" y="2176272"/>
            <a:ext cx="1508760" cy="155448"/>
          </a:xfrm>
          <a:prstGeom prst="rect">
            <a:avLst/>
          </a:prstGeom>
          <a:noFill/>
        </p:spPr>
        <p:txBody>
          <a:bodyPr wrap="square" lIns="18288" rIns="18288" tIns="18288" bIns="18288" anchor="t">
            <a:spAutoFit/>
          </a:bodyPr>
          <a:lstStyle/>
          <a:p>
            <a:pPr algn="l">
              <a:spcAft>
                <a:spcPts val="0"/>
              </a:spcAft>
            </a:pPr>
            <a:r>
              <a:rPr sz="860" b="1" i="0">
                <a:solidFill>
                  <a:srgbClr val="6FC3D5"/>
                </a:solidFill>
                <a:latin typeface="Aptos"/>
              </a:rPr>
              <a:t>WATER</a:t>
            </a:r>
          </a:p>
        </p:txBody>
      </p:sp>
      <p:sp>
        <p:nvSpPr>
          <p:cNvPr id="33" name="TextBox 32"/>
          <p:cNvSpPr txBox="1"/>
          <p:nvPr/>
        </p:nvSpPr>
        <p:spPr>
          <a:xfrm>
            <a:off x="10076688" y="2386584"/>
            <a:ext cx="1508760" cy="182880"/>
          </a:xfrm>
          <a:prstGeom prst="rect">
            <a:avLst/>
          </a:prstGeom>
          <a:noFill/>
        </p:spPr>
        <p:txBody>
          <a:bodyPr wrap="square" lIns="18288" rIns="18288" tIns="18288" bIns="18288" anchor="t">
            <a:spAutoFit/>
          </a:bodyPr>
          <a:lstStyle/>
          <a:p>
            <a:pPr algn="l">
              <a:spcAft>
                <a:spcPts val="0"/>
              </a:spcAft>
            </a:pPr>
            <a:r>
              <a:rPr sz="770" b="0" i="0">
                <a:solidFill>
                  <a:srgbClr val="B6C9BB"/>
                </a:solidFill>
                <a:latin typeface="Aptos"/>
              </a:rPr>
              <a:t>consume, capture or pollute</a:t>
            </a:r>
          </a:p>
        </p:txBody>
      </p:sp>
      <p:sp>
        <p:nvSpPr>
          <p:cNvPr id="34" name="Rounded Rectangle 33"/>
          <p:cNvSpPr/>
          <p:nvPr/>
        </p:nvSpPr>
        <p:spPr>
          <a:xfrm>
            <a:off x="5715000" y="3401568"/>
            <a:ext cx="2057400" cy="658368"/>
          </a:xfrm>
          <a:prstGeom prst="roundRect">
            <a:avLst/>
          </a:prstGeom>
          <a:solidFill>
            <a:srgbClr val="10372A"/>
          </a:solidFill>
          <a:ln w="10160">
            <a:solidFill>
              <a:srgbClr val="C79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843016" y="3557016"/>
            <a:ext cx="201168" cy="201168"/>
          </a:xfrm>
          <a:prstGeom prst="ellipse">
            <a:avLst/>
          </a:prstGeom>
          <a:solidFill>
            <a:srgbClr val="C79A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44768" y="3511296"/>
            <a:ext cx="1508760" cy="155448"/>
          </a:xfrm>
          <a:prstGeom prst="rect">
            <a:avLst/>
          </a:prstGeom>
          <a:noFill/>
        </p:spPr>
        <p:txBody>
          <a:bodyPr wrap="square" lIns="18288" rIns="18288" tIns="18288" bIns="18288" anchor="t">
            <a:spAutoFit/>
          </a:bodyPr>
          <a:lstStyle/>
          <a:p>
            <a:pPr algn="l">
              <a:spcAft>
                <a:spcPts val="0"/>
              </a:spcAft>
            </a:pPr>
            <a:r>
              <a:rPr sz="860" b="1" i="0">
                <a:solidFill>
                  <a:srgbClr val="C79AEC"/>
                </a:solidFill>
                <a:latin typeface="Aptos"/>
              </a:rPr>
              <a:t>AIR + NOISE</a:t>
            </a:r>
          </a:p>
        </p:txBody>
      </p:sp>
      <p:sp>
        <p:nvSpPr>
          <p:cNvPr id="37" name="TextBox 36"/>
          <p:cNvSpPr txBox="1"/>
          <p:nvPr/>
        </p:nvSpPr>
        <p:spPr>
          <a:xfrm>
            <a:off x="6144768" y="3721608"/>
            <a:ext cx="1508760" cy="182880"/>
          </a:xfrm>
          <a:prstGeom prst="rect">
            <a:avLst/>
          </a:prstGeom>
          <a:noFill/>
        </p:spPr>
        <p:txBody>
          <a:bodyPr wrap="square" lIns="18288" rIns="18288" tIns="18288" bIns="18288" anchor="t">
            <a:spAutoFit/>
          </a:bodyPr>
          <a:lstStyle/>
          <a:p>
            <a:pPr algn="l">
              <a:spcAft>
                <a:spcPts val="0"/>
              </a:spcAft>
            </a:pPr>
            <a:r>
              <a:rPr sz="770" b="0" i="0">
                <a:solidFill>
                  <a:srgbClr val="B6C9BB"/>
                </a:solidFill>
                <a:latin typeface="Aptos"/>
              </a:rPr>
              <a:t>create emissions or disturbance</a:t>
            </a:r>
          </a:p>
        </p:txBody>
      </p:sp>
      <p:sp>
        <p:nvSpPr>
          <p:cNvPr id="38" name="Rounded Rectangle 37"/>
          <p:cNvSpPr/>
          <p:nvPr/>
        </p:nvSpPr>
        <p:spPr>
          <a:xfrm>
            <a:off x="9646920" y="3401568"/>
            <a:ext cx="2057400" cy="658368"/>
          </a:xfrm>
          <a:prstGeom prst="roundRect">
            <a:avLst/>
          </a:prstGeom>
          <a:solidFill>
            <a:srgbClr val="10372A"/>
          </a:solidFill>
          <a:ln w="10160">
            <a:solidFill>
              <a:srgbClr val="F47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774936" y="3557016"/>
            <a:ext cx="201168" cy="201168"/>
          </a:xfrm>
          <a:prstGeom prst="ellipse">
            <a:avLst/>
          </a:prstGeom>
          <a:solidFill>
            <a:srgbClr val="F47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76688" y="3511296"/>
            <a:ext cx="1508760" cy="155448"/>
          </a:xfrm>
          <a:prstGeom prst="rect">
            <a:avLst/>
          </a:prstGeom>
          <a:noFill/>
        </p:spPr>
        <p:txBody>
          <a:bodyPr wrap="square" lIns="18288" rIns="18288" tIns="18288" bIns="18288" anchor="t">
            <a:spAutoFit/>
          </a:bodyPr>
          <a:lstStyle/>
          <a:p>
            <a:pPr algn="l">
              <a:spcAft>
                <a:spcPts val="0"/>
              </a:spcAft>
            </a:pPr>
            <a:r>
              <a:rPr sz="860" b="1" i="0">
                <a:solidFill>
                  <a:srgbClr val="F47E70"/>
                </a:solidFill>
                <a:latin typeface="Aptos"/>
              </a:rPr>
              <a:t>SOIL</a:t>
            </a:r>
          </a:p>
        </p:txBody>
      </p:sp>
      <p:sp>
        <p:nvSpPr>
          <p:cNvPr id="41" name="TextBox 40"/>
          <p:cNvSpPr txBox="1"/>
          <p:nvPr/>
        </p:nvSpPr>
        <p:spPr>
          <a:xfrm>
            <a:off x="10076688" y="3721608"/>
            <a:ext cx="1508760" cy="182880"/>
          </a:xfrm>
          <a:prstGeom prst="rect">
            <a:avLst/>
          </a:prstGeom>
          <a:noFill/>
        </p:spPr>
        <p:txBody>
          <a:bodyPr wrap="square" lIns="18288" rIns="18288" tIns="18288" bIns="18288" anchor="t">
            <a:spAutoFit/>
          </a:bodyPr>
          <a:lstStyle/>
          <a:p>
            <a:pPr algn="l">
              <a:spcAft>
                <a:spcPts val="0"/>
              </a:spcAft>
            </a:pPr>
            <a:r>
              <a:rPr sz="770" b="0" i="0">
                <a:solidFill>
                  <a:srgbClr val="B6C9BB"/>
                </a:solidFill>
                <a:latin typeface="Aptos"/>
              </a:rPr>
              <a:t>compact, erode or restore</a:t>
            </a:r>
          </a:p>
        </p:txBody>
      </p:sp>
      <p:sp>
        <p:nvSpPr>
          <p:cNvPr id="42" name="Rounded Rectangle 41"/>
          <p:cNvSpPr/>
          <p:nvPr/>
        </p:nvSpPr>
        <p:spPr>
          <a:xfrm>
            <a:off x="7525512" y="4690872"/>
            <a:ext cx="2542032" cy="658368"/>
          </a:xfrm>
          <a:prstGeom prst="roundRect">
            <a:avLst/>
          </a:prstGeom>
          <a:solidFill>
            <a:srgbClr val="10372A"/>
          </a:solidFill>
          <a:ln w="10160">
            <a:solidFill>
              <a:srgbClr val="E4C9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653528" y="4846320"/>
            <a:ext cx="201168" cy="201168"/>
          </a:xfrm>
          <a:prstGeom prst="ellipse">
            <a:avLst/>
          </a:prstGeom>
          <a:solidFill>
            <a:srgbClr val="E4C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55280" y="4800600"/>
            <a:ext cx="1993391" cy="155448"/>
          </a:xfrm>
          <a:prstGeom prst="rect">
            <a:avLst/>
          </a:prstGeom>
          <a:noFill/>
        </p:spPr>
        <p:txBody>
          <a:bodyPr wrap="square" lIns="18288" rIns="18288" tIns="18288" bIns="18288" anchor="t">
            <a:spAutoFit/>
          </a:bodyPr>
          <a:lstStyle/>
          <a:p>
            <a:pPr algn="l">
              <a:spcAft>
                <a:spcPts val="0"/>
              </a:spcAft>
            </a:pPr>
            <a:r>
              <a:rPr sz="860" b="1" i="0">
                <a:solidFill>
                  <a:srgbClr val="E4C967"/>
                </a:solidFill>
                <a:latin typeface="Aptos"/>
              </a:rPr>
              <a:t>PEOPLE</a:t>
            </a:r>
          </a:p>
        </p:txBody>
      </p:sp>
      <p:sp>
        <p:nvSpPr>
          <p:cNvPr id="45" name="TextBox 44"/>
          <p:cNvSpPr txBox="1"/>
          <p:nvPr/>
        </p:nvSpPr>
        <p:spPr>
          <a:xfrm>
            <a:off x="7955280" y="5010912"/>
            <a:ext cx="1993391" cy="182880"/>
          </a:xfrm>
          <a:prstGeom prst="rect">
            <a:avLst/>
          </a:prstGeom>
          <a:noFill/>
        </p:spPr>
        <p:txBody>
          <a:bodyPr wrap="square" lIns="18288" rIns="18288" tIns="18288" bIns="18288" anchor="t">
            <a:spAutoFit/>
          </a:bodyPr>
          <a:lstStyle/>
          <a:p>
            <a:pPr algn="l">
              <a:spcAft>
                <a:spcPts val="0"/>
              </a:spcAft>
            </a:pPr>
            <a:r>
              <a:rPr sz="770" b="0" i="0">
                <a:solidFill>
                  <a:srgbClr val="B6C9BB"/>
                </a:solidFill>
                <a:latin typeface="Aptos"/>
              </a:rPr>
              <a:t>change jobs, health and learning</a:t>
            </a:r>
          </a:p>
        </p:txBody>
      </p:sp>
      <p:sp>
        <p:nvSpPr>
          <p:cNvPr id="46" name="TextBox 45"/>
          <p:cNvSpPr txBox="1"/>
          <p:nvPr/>
        </p:nvSpPr>
        <p:spPr>
          <a:xfrm>
            <a:off x="7790688" y="2240280"/>
            <a:ext cx="256032" cy="228600"/>
          </a:xfrm>
          <a:prstGeom prst="rect">
            <a:avLst/>
          </a:prstGeom>
          <a:noFill/>
        </p:spPr>
        <p:txBody>
          <a:bodyPr wrap="square" lIns="18288" rIns="18288" tIns="18288" bIns="18288" anchor="t">
            <a:spAutoFit/>
          </a:bodyPr>
          <a:lstStyle/>
          <a:p>
            <a:pPr algn="ctr">
              <a:spcAft>
                <a:spcPts val="0"/>
              </a:spcAft>
            </a:pPr>
            <a:r>
              <a:rPr sz="1600" b="1" i="0">
                <a:solidFill>
                  <a:srgbClr val="A7E87D"/>
                </a:solidFill>
                <a:latin typeface="Aptos"/>
              </a:rPr>
              <a:t>→</a:t>
            </a:r>
          </a:p>
        </p:txBody>
      </p:sp>
      <p:sp>
        <p:nvSpPr>
          <p:cNvPr id="47" name="TextBox 46"/>
          <p:cNvSpPr txBox="1"/>
          <p:nvPr/>
        </p:nvSpPr>
        <p:spPr>
          <a:xfrm>
            <a:off x="9354312" y="2240280"/>
            <a:ext cx="256032" cy="228600"/>
          </a:xfrm>
          <a:prstGeom prst="rect">
            <a:avLst/>
          </a:prstGeom>
          <a:noFill/>
        </p:spPr>
        <p:txBody>
          <a:bodyPr wrap="square" lIns="18288" rIns="18288" tIns="18288" bIns="18288" anchor="t">
            <a:spAutoFit/>
          </a:bodyPr>
          <a:lstStyle/>
          <a:p>
            <a:pPr algn="ctr">
              <a:spcAft>
                <a:spcPts val="0"/>
              </a:spcAft>
            </a:pPr>
            <a:r>
              <a:rPr sz="1600" b="1" i="0">
                <a:solidFill>
                  <a:srgbClr val="6FC3D5"/>
                </a:solidFill>
                <a:latin typeface="Aptos"/>
              </a:rPr>
              <a:t>←</a:t>
            </a:r>
          </a:p>
        </p:txBody>
      </p:sp>
      <p:sp>
        <p:nvSpPr>
          <p:cNvPr id="48" name="TextBox 47"/>
          <p:cNvSpPr txBox="1"/>
          <p:nvPr/>
        </p:nvSpPr>
        <p:spPr>
          <a:xfrm>
            <a:off x="7790688" y="3566160"/>
            <a:ext cx="256032" cy="228600"/>
          </a:xfrm>
          <a:prstGeom prst="rect">
            <a:avLst/>
          </a:prstGeom>
          <a:noFill/>
        </p:spPr>
        <p:txBody>
          <a:bodyPr wrap="square" lIns="18288" rIns="18288" tIns="18288" bIns="18288" anchor="t">
            <a:spAutoFit/>
          </a:bodyPr>
          <a:lstStyle/>
          <a:p>
            <a:pPr algn="ctr">
              <a:spcAft>
                <a:spcPts val="0"/>
              </a:spcAft>
            </a:pPr>
            <a:r>
              <a:rPr sz="1600" b="1" i="0">
                <a:solidFill>
                  <a:srgbClr val="C79AEC"/>
                </a:solidFill>
                <a:latin typeface="Aptos"/>
              </a:rPr>
              <a:t>→</a:t>
            </a:r>
          </a:p>
        </p:txBody>
      </p:sp>
      <p:sp>
        <p:nvSpPr>
          <p:cNvPr id="49" name="TextBox 48"/>
          <p:cNvSpPr txBox="1"/>
          <p:nvPr/>
        </p:nvSpPr>
        <p:spPr>
          <a:xfrm>
            <a:off x="9354312" y="3566160"/>
            <a:ext cx="256032" cy="228600"/>
          </a:xfrm>
          <a:prstGeom prst="rect">
            <a:avLst/>
          </a:prstGeom>
          <a:noFill/>
        </p:spPr>
        <p:txBody>
          <a:bodyPr wrap="square" lIns="18288" rIns="18288" tIns="18288" bIns="18288" anchor="t">
            <a:spAutoFit/>
          </a:bodyPr>
          <a:lstStyle/>
          <a:p>
            <a:pPr algn="ctr">
              <a:spcAft>
                <a:spcPts val="0"/>
              </a:spcAft>
            </a:pPr>
            <a:r>
              <a:rPr sz="1600" b="1" i="0">
                <a:solidFill>
                  <a:srgbClr val="F47E70"/>
                </a:solidFill>
                <a:latin typeface="Aptos"/>
              </a:rPr>
              <a:t>←</a:t>
            </a:r>
          </a:p>
        </p:txBody>
      </p:sp>
      <p:sp>
        <p:nvSpPr>
          <p:cNvPr id="50" name="TextBox 49"/>
          <p:cNvSpPr txBox="1"/>
          <p:nvPr/>
        </p:nvSpPr>
        <p:spPr>
          <a:xfrm>
            <a:off x="8558784" y="4407408"/>
            <a:ext cx="256032" cy="228600"/>
          </a:xfrm>
          <a:prstGeom prst="rect">
            <a:avLst/>
          </a:prstGeom>
          <a:noFill/>
        </p:spPr>
        <p:txBody>
          <a:bodyPr wrap="square" lIns="18288" rIns="18288" tIns="18288" bIns="18288" anchor="t">
            <a:spAutoFit/>
          </a:bodyPr>
          <a:lstStyle/>
          <a:p>
            <a:pPr algn="ctr">
              <a:spcAft>
                <a:spcPts val="0"/>
              </a:spcAft>
            </a:pPr>
            <a:r>
              <a:rPr sz="1600" b="1" i="0">
                <a:solidFill>
                  <a:srgbClr val="E4C967"/>
                </a:solidFill>
                <a:latin typeface="Aptos"/>
              </a:rPr>
              <a:t>↑</a:t>
            </a:r>
          </a:p>
        </p:txBody>
      </p:sp>
      <p:sp>
        <p:nvSpPr>
          <p:cNvPr id="51" name="Rounded Rectangle 50"/>
          <p:cNvSpPr/>
          <p:nvPr/>
        </p:nvSpPr>
        <p:spPr>
          <a:xfrm>
            <a:off x="475488" y="5833872"/>
            <a:ext cx="11237976" cy="429768"/>
          </a:xfrm>
          <a:prstGeom prst="roundRect">
            <a:avLst/>
          </a:prstGeom>
          <a:solidFill>
            <a:srgbClr val="0A281F"/>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4944" y="5934456"/>
            <a:ext cx="2267712" cy="137160"/>
          </a:xfrm>
          <a:prstGeom prst="rect">
            <a:avLst/>
          </a:prstGeom>
          <a:noFill/>
        </p:spPr>
        <p:txBody>
          <a:bodyPr wrap="square" lIns="18288" rIns="18288" tIns="18288" bIns="18288" anchor="t">
            <a:spAutoFit/>
          </a:bodyPr>
          <a:lstStyle/>
          <a:p>
            <a:pPr algn="l">
              <a:spcAft>
                <a:spcPts val="0"/>
              </a:spcAft>
            </a:pPr>
            <a:r>
              <a:rPr sz="810" b="1" i="0">
                <a:solidFill>
                  <a:srgbClr val="A7E87D"/>
                </a:solidFill>
                <a:latin typeface="Aptos"/>
              </a:rPr>
              <a:t>LEARNING IS INTEGRATED INTO PLAY</a:t>
            </a:r>
          </a:p>
        </p:txBody>
      </p:sp>
      <p:sp>
        <p:nvSpPr>
          <p:cNvPr id="53" name="TextBox 52"/>
          <p:cNvSpPr txBox="1"/>
          <p:nvPr/>
        </p:nvSpPr>
        <p:spPr>
          <a:xfrm>
            <a:off x="2962656" y="5925312"/>
            <a:ext cx="8476488" cy="146304"/>
          </a:xfrm>
          <a:prstGeom prst="rect">
            <a:avLst/>
          </a:prstGeom>
          <a:noFill/>
        </p:spPr>
        <p:txBody>
          <a:bodyPr wrap="square" lIns="18288" rIns="18288" tIns="18288" bIns="18288" anchor="t">
            <a:spAutoFit/>
          </a:bodyPr>
          <a:lstStyle/>
          <a:p>
            <a:pPr algn="ctr">
              <a:spcAft>
                <a:spcPts val="0"/>
              </a:spcAft>
            </a:pPr>
            <a:r>
              <a:rPr sz="860" b="1" i="0">
                <a:solidFill>
                  <a:srgbClr val="F3F1D5"/>
                </a:solidFill>
                <a:latin typeface="Aptos"/>
              </a:rPr>
              <a:t>Eco Coach   ·   field missions   ·   knowledge checks   ·   building inspections   ·   environmental scenarios</a:t>
            </a:r>
          </a:p>
        </p:txBody>
      </p:sp>
      <p:sp>
        <p:nvSpPr>
          <p:cNvPr id="54" name="Rectangle 53"/>
          <p:cNvSpPr/>
          <p:nvPr/>
        </p:nvSpPr>
        <p:spPr>
          <a:xfrm>
            <a:off x="475488" y="6556248"/>
            <a:ext cx="11237976" cy="10972"/>
          </a:xfrm>
          <a:prstGeom prst="rect">
            <a:avLst/>
          </a:prstGeom>
          <a:solidFill>
            <a:srgbClr val="2B5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5488" y="6592824"/>
            <a:ext cx="6583680" cy="164592"/>
          </a:xfrm>
          <a:prstGeom prst="rect">
            <a:avLst/>
          </a:prstGeom>
          <a:noFill/>
        </p:spPr>
        <p:txBody>
          <a:bodyPr wrap="square" lIns="18288" rIns="18288" tIns="18288" bIns="18288" anchor="t">
            <a:spAutoFit/>
          </a:bodyPr>
          <a:lstStyle/>
          <a:p>
            <a:pPr algn="l">
              <a:spcAft>
                <a:spcPts val="0"/>
              </a:spcAft>
            </a:pPr>
            <a:r>
              <a:rPr sz="750" b="1" i="0">
                <a:solidFill>
                  <a:srgbClr val="7F9B89"/>
                </a:solidFill>
                <a:latin typeface="Aptos"/>
              </a:rPr>
              <a:t>CREATED BY JAMES, AGE 13 · PRESENTED BY DANIEL BRYAR</a:t>
            </a:r>
          </a:p>
        </p:txBody>
      </p:sp>
      <p:sp>
        <p:nvSpPr>
          <p:cNvPr id="56" name="TextBox 55"/>
          <p:cNvSpPr txBox="1"/>
          <p:nvPr/>
        </p:nvSpPr>
        <p:spPr>
          <a:xfrm>
            <a:off x="11384280" y="6574536"/>
            <a:ext cx="320040" cy="164592"/>
          </a:xfrm>
          <a:prstGeom prst="rect">
            <a:avLst/>
          </a:prstGeom>
          <a:noFill/>
        </p:spPr>
        <p:txBody>
          <a:bodyPr wrap="square" lIns="18288" rIns="18288" tIns="18288" bIns="18288" anchor="t">
            <a:spAutoFit/>
          </a:bodyPr>
          <a:lstStyle/>
          <a:p>
            <a:pPr algn="r">
              <a:spcAft>
                <a:spcPts val="0"/>
              </a:spcAft>
            </a:pPr>
            <a:r>
              <a:rPr sz="850" b="1" i="0">
                <a:solidFill>
                  <a:srgbClr val="7F9B89"/>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F18"/>
        </a:solidFill>
        <a:effectLst/>
      </p:bgPr>
    </p:bg>
    <p:spTree>
      <p:nvGrpSpPr>
        <p:cNvPr id="1" name=""/>
        <p:cNvGrpSpPr/>
        <p:nvPr/>
      </p:nvGrpSpPr>
      <p:grpSpPr/>
      <p:sp>
        <p:nvSpPr>
          <p:cNvPr id="2" name="TextBox 1"/>
          <p:cNvSpPr txBox="1"/>
          <p:nvPr/>
        </p:nvSpPr>
        <p:spPr>
          <a:xfrm>
            <a:off x="475488" y="256032"/>
            <a:ext cx="530352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CORE GAME LOOP</a:t>
            </a:r>
          </a:p>
        </p:txBody>
      </p:sp>
      <p:sp>
        <p:nvSpPr>
          <p:cNvPr id="3" name="TextBox 2"/>
          <p:cNvSpPr txBox="1"/>
          <p:nvPr/>
        </p:nvSpPr>
        <p:spPr>
          <a:xfrm>
            <a:off x="475488" y="493776"/>
            <a:ext cx="10698480" cy="475488"/>
          </a:xfrm>
          <a:prstGeom prst="rect">
            <a:avLst/>
          </a:prstGeom>
          <a:noFill/>
        </p:spPr>
        <p:txBody>
          <a:bodyPr wrap="square" lIns="18288" rIns="18288" tIns="18288" bIns="18288" anchor="t">
            <a:spAutoFit/>
          </a:bodyPr>
          <a:lstStyle/>
          <a:p>
            <a:pPr algn="l">
              <a:spcAft>
                <a:spcPts val="0"/>
              </a:spcAft>
            </a:pPr>
            <a:r>
              <a:rPr sz="2800" b="1" i="0">
                <a:solidFill>
                  <a:srgbClr val="F3F1D5"/>
                </a:solidFill>
                <a:latin typeface="Georgia"/>
              </a:rPr>
              <a:t>The idea: prosper without breaking the system</a:t>
            </a:r>
          </a:p>
        </p:txBody>
      </p:sp>
      <p:sp>
        <p:nvSpPr>
          <p:cNvPr id="4" name="TextBox 3"/>
          <p:cNvSpPr txBox="1"/>
          <p:nvPr/>
        </p:nvSpPr>
        <p:spPr>
          <a:xfrm>
            <a:off x="493776" y="932688"/>
            <a:ext cx="10607040" cy="292608"/>
          </a:xfrm>
          <a:prstGeom prst="rect">
            <a:avLst/>
          </a:prstGeom>
          <a:noFill/>
        </p:spPr>
        <p:txBody>
          <a:bodyPr wrap="square" lIns="18288" rIns="18288" tIns="18288" bIns="18288" anchor="t">
            <a:spAutoFit/>
          </a:bodyPr>
          <a:lstStyle/>
          <a:p>
            <a:pPr algn="l">
              <a:spcAft>
                <a:spcPts val="0"/>
              </a:spcAft>
            </a:pPr>
            <a:r>
              <a:rPr sz="1120" b="0" i="0">
                <a:solidFill>
                  <a:srgbClr val="B6C9BB"/>
                </a:solidFill>
                <a:latin typeface="Aptos"/>
              </a:rPr>
              <a:t>Every expansion solves one problem while creating new pressure somewhere else.</a:t>
            </a:r>
          </a:p>
        </p:txBody>
      </p:sp>
      <p:sp>
        <p:nvSpPr>
          <p:cNvPr id="5" name="TextBox 4"/>
          <p:cNvSpPr txBox="1"/>
          <p:nvPr/>
        </p:nvSpPr>
        <p:spPr>
          <a:xfrm>
            <a:off x="11265408" y="338328"/>
            <a:ext cx="438912" cy="274320"/>
          </a:xfrm>
          <a:prstGeom prst="rect">
            <a:avLst/>
          </a:prstGeom>
          <a:noFill/>
        </p:spPr>
        <p:txBody>
          <a:bodyPr wrap="square" lIns="18288" rIns="18288" tIns="18288" bIns="18288" anchor="t">
            <a:spAutoFit/>
          </a:bodyPr>
          <a:lstStyle/>
          <a:p>
            <a:pPr algn="r">
              <a:spcAft>
                <a:spcPts val="0"/>
              </a:spcAft>
            </a:pPr>
            <a:r>
              <a:rPr sz="1000" b="1" i="0">
                <a:solidFill>
                  <a:srgbClr val="A7E87D"/>
                </a:solidFill>
                <a:latin typeface="Aptos"/>
              </a:rPr>
              <a:t>03</a:t>
            </a:r>
          </a:p>
        </p:txBody>
      </p:sp>
      <p:sp>
        <p:nvSpPr>
          <p:cNvPr id="6" name="Rectangle 5"/>
          <p:cNvSpPr/>
          <p:nvPr/>
        </p:nvSpPr>
        <p:spPr>
          <a:xfrm>
            <a:off x="11804904" y="274320"/>
            <a:ext cx="27432" cy="502920"/>
          </a:xfrm>
          <a:prstGeom prst="rect">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5488" y="1353312"/>
            <a:ext cx="2615184" cy="1408176"/>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 y="1527048"/>
            <a:ext cx="402336" cy="402336"/>
          </a:xfrm>
          <a:prstGeom prst="ellipse">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09344"/>
            <a:ext cx="402336" cy="146304"/>
          </a:xfrm>
          <a:prstGeom prst="rect">
            <a:avLst/>
          </a:prstGeom>
          <a:noFill/>
        </p:spPr>
        <p:txBody>
          <a:bodyPr wrap="square" lIns="18288" rIns="18288" tIns="18288" bIns="18288" anchor="t">
            <a:spAutoFit/>
          </a:bodyPr>
          <a:lstStyle/>
          <a:p>
            <a:pPr algn="ctr">
              <a:spcAft>
                <a:spcPts val="0"/>
              </a:spcAft>
            </a:pPr>
            <a:r>
              <a:rPr sz="900" b="1" i="0">
                <a:solidFill>
                  <a:srgbClr val="071F18"/>
                </a:solidFill>
                <a:latin typeface="Aptos"/>
              </a:rPr>
              <a:t>01</a:t>
            </a:r>
          </a:p>
        </p:txBody>
      </p:sp>
      <p:sp>
        <p:nvSpPr>
          <p:cNvPr id="10" name="TextBox 9"/>
          <p:cNvSpPr txBox="1"/>
          <p:nvPr/>
        </p:nvSpPr>
        <p:spPr>
          <a:xfrm>
            <a:off x="1170432" y="1499616"/>
            <a:ext cx="1609344" cy="237744"/>
          </a:xfrm>
          <a:prstGeom prst="rect">
            <a:avLst/>
          </a:prstGeom>
          <a:noFill/>
        </p:spPr>
        <p:txBody>
          <a:bodyPr wrap="square" lIns="18288" rIns="18288" tIns="18288" bIns="18288" anchor="t">
            <a:spAutoFit/>
          </a:bodyPr>
          <a:lstStyle/>
          <a:p>
            <a:pPr algn="l">
              <a:spcAft>
                <a:spcPts val="0"/>
              </a:spcAft>
            </a:pPr>
            <a:r>
              <a:rPr sz="1350" b="1" i="0">
                <a:solidFill>
                  <a:srgbClr val="A7E87D"/>
                </a:solidFill>
                <a:latin typeface="Aptos"/>
              </a:rPr>
              <a:t>PLAN</a:t>
            </a:r>
          </a:p>
        </p:txBody>
      </p:sp>
      <p:sp>
        <p:nvSpPr>
          <p:cNvPr id="11" name="TextBox 10"/>
          <p:cNvSpPr txBox="1"/>
          <p:nvPr/>
        </p:nvSpPr>
        <p:spPr>
          <a:xfrm>
            <a:off x="658368" y="2002536"/>
            <a:ext cx="2249424" cy="566928"/>
          </a:xfrm>
          <a:prstGeom prst="rect">
            <a:avLst/>
          </a:prstGeom>
          <a:noFill/>
        </p:spPr>
        <p:txBody>
          <a:bodyPr wrap="square" lIns="18288" rIns="18288" tIns="18288" bIns="18288" anchor="t">
            <a:spAutoFit/>
          </a:bodyPr>
          <a:lstStyle/>
          <a:p>
            <a:pPr algn="l">
              <a:spcAft>
                <a:spcPts val="0"/>
              </a:spcAft>
            </a:pPr>
            <a:r>
              <a:rPr sz="1070" b="0" i="0">
                <a:solidFill>
                  <a:srgbClr val="B6C9BB"/>
                </a:solidFill>
                <a:latin typeface="Aptos"/>
              </a:rPr>
              <a:t>Read the map, storage, population and weakest ecosystem indicator.</a:t>
            </a:r>
          </a:p>
        </p:txBody>
      </p:sp>
      <p:sp>
        <p:nvSpPr>
          <p:cNvPr id="12" name="TextBox 11"/>
          <p:cNvSpPr txBox="1"/>
          <p:nvPr/>
        </p:nvSpPr>
        <p:spPr>
          <a:xfrm>
            <a:off x="3081528" y="1801368"/>
            <a:ext cx="256032" cy="292608"/>
          </a:xfrm>
          <a:prstGeom prst="rect">
            <a:avLst/>
          </a:prstGeom>
          <a:noFill/>
        </p:spPr>
        <p:txBody>
          <a:bodyPr wrap="square" lIns="18288" rIns="18288" tIns="18288" bIns="18288" anchor="t">
            <a:spAutoFit/>
          </a:bodyPr>
          <a:lstStyle/>
          <a:p>
            <a:pPr algn="ctr">
              <a:spcAft>
                <a:spcPts val="0"/>
              </a:spcAft>
            </a:pPr>
            <a:r>
              <a:rPr sz="2000" b="1" i="0">
                <a:solidFill>
                  <a:srgbClr val="A7E87D"/>
                </a:solidFill>
                <a:latin typeface="Aptos"/>
              </a:rPr>
              <a:t>→</a:t>
            </a:r>
          </a:p>
        </p:txBody>
      </p:sp>
      <p:sp>
        <p:nvSpPr>
          <p:cNvPr id="13" name="Rounded Rectangle 12"/>
          <p:cNvSpPr/>
          <p:nvPr/>
        </p:nvSpPr>
        <p:spPr>
          <a:xfrm>
            <a:off x="3319272" y="1353312"/>
            <a:ext cx="2615184" cy="1408176"/>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83864" y="1527048"/>
            <a:ext cx="402336" cy="402336"/>
          </a:xfrm>
          <a:prstGeom prst="ellipse">
            <a:avLst/>
          </a:prstGeom>
          <a:solidFill>
            <a:srgbClr val="6FC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83864" y="1609344"/>
            <a:ext cx="402336" cy="146304"/>
          </a:xfrm>
          <a:prstGeom prst="rect">
            <a:avLst/>
          </a:prstGeom>
          <a:noFill/>
        </p:spPr>
        <p:txBody>
          <a:bodyPr wrap="square" lIns="18288" rIns="18288" tIns="18288" bIns="18288" anchor="t">
            <a:spAutoFit/>
          </a:bodyPr>
          <a:lstStyle/>
          <a:p>
            <a:pPr algn="ctr">
              <a:spcAft>
                <a:spcPts val="0"/>
              </a:spcAft>
            </a:pPr>
            <a:r>
              <a:rPr sz="900" b="1" i="0">
                <a:solidFill>
                  <a:srgbClr val="071F18"/>
                </a:solidFill>
                <a:latin typeface="Aptos"/>
              </a:rPr>
              <a:t>02</a:t>
            </a:r>
          </a:p>
        </p:txBody>
      </p:sp>
      <p:sp>
        <p:nvSpPr>
          <p:cNvPr id="16" name="TextBox 15"/>
          <p:cNvSpPr txBox="1"/>
          <p:nvPr/>
        </p:nvSpPr>
        <p:spPr>
          <a:xfrm>
            <a:off x="4014215" y="1499616"/>
            <a:ext cx="1609344" cy="237744"/>
          </a:xfrm>
          <a:prstGeom prst="rect">
            <a:avLst/>
          </a:prstGeom>
          <a:noFill/>
        </p:spPr>
        <p:txBody>
          <a:bodyPr wrap="square" lIns="18288" rIns="18288" tIns="18288" bIns="18288" anchor="t">
            <a:spAutoFit/>
          </a:bodyPr>
          <a:lstStyle/>
          <a:p>
            <a:pPr algn="l">
              <a:spcAft>
                <a:spcPts val="0"/>
              </a:spcAft>
            </a:pPr>
            <a:r>
              <a:rPr sz="1350" b="1" i="0">
                <a:solidFill>
                  <a:srgbClr val="6FC3D5"/>
                </a:solidFill>
                <a:latin typeface="Aptos"/>
              </a:rPr>
              <a:t>BUILD</a:t>
            </a:r>
          </a:p>
        </p:txBody>
      </p:sp>
      <p:sp>
        <p:nvSpPr>
          <p:cNvPr id="17" name="TextBox 16"/>
          <p:cNvSpPr txBox="1"/>
          <p:nvPr/>
        </p:nvSpPr>
        <p:spPr>
          <a:xfrm>
            <a:off x="3502152" y="2002536"/>
            <a:ext cx="2249424" cy="566928"/>
          </a:xfrm>
          <a:prstGeom prst="rect">
            <a:avLst/>
          </a:prstGeom>
          <a:noFill/>
        </p:spPr>
        <p:txBody>
          <a:bodyPr wrap="square" lIns="18288" rIns="18288" tIns="18288" bIns="18288" anchor="t">
            <a:spAutoFit/>
          </a:bodyPr>
          <a:lstStyle/>
          <a:p>
            <a:pPr algn="l">
              <a:spcAft>
                <a:spcPts val="0"/>
              </a:spcAft>
            </a:pPr>
            <a:r>
              <a:rPr sz="1070" b="0" i="0">
                <a:solidFill>
                  <a:srgbClr val="B6C9BB"/>
                </a:solidFill>
                <a:latin typeface="Aptos"/>
              </a:rPr>
              <a:t>Place homes, services, workplaces and nature-based solutions.</a:t>
            </a:r>
          </a:p>
        </p:txBody>
      </p:sp>
      <p:sp>
        <p:nvSpPr>
          <p:cNvPr id="18" name="TextBox 17"/>
          <p:cNvSpPr txBox="1"/>
          <p:nvPr/>
        </p:nvSpPr>
        <p:spPr>
          <a:xfrm>
            <a:off x="5925312" y="1801368"/>
            <a:ext cx="256032" cy="292608"/>
          </a:xfrm>
          <a:prstGeom prst="rect">
            <a:avLst/>
          </a:prstGeom>
          <a:noFill/>
        </p:spPr>
        <p:txBody>
          <a:bodyPr wrap="square" lIns="18288" rIns="18288" tIns="18288" bIns="18288" anchor="t">
            <a:spAutoFit/>
          </a:bodyPr>
          <a:lstStyle/>
          <a:p>
            <a:pPr algn="ctr">
              <a:spcAft>
                <a:spcPts val="0"/>
              </a:spcAft>
            </a:pPr>
            <a:r>
              <a:rPr sz="2000" b="1" i="0">
                <a:solidFill>
                  <a:srgbClr val="A7E87D"/>
                </a:solidFill>
                <a:latin typeface="Aptos"/>
              </a:rPr>
              <a:t>→</a:t>
            </a:r>
          </a:p>
        </p:txBody>
      </p:sp>
      <p:sp>
        <p:nvSpPr>
          <p:cNvPr id="19" name="Rounded Rectangle 18"/>
          <p:cNvSpPr/>
          <p:nvPr/>
        </p:nvSpPr>
        <p:spPr>
          <a:xfrm>
            <a:off x="6163056" y="1353312"/>
            <a:ext cx="2615184" cy="1408176"/>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27648" y="1527048"/>
            <a:ext cx="402336" cy="402336"/>
          </a:xfrm>
          <a:prstGeom prst="ellipse">
            <a:avLst/>
          </a:prstGeom>
          <a:solidFill>
            <a:srgbClr val="E4C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7648" y="1609344"/>
            <a:ext cx="402336" cy="146304"/>
          </a:xfrm>
          <a:prstGeom prst="rect">
            <a:avLst/>
          </a:prstGeom>
          <a:noFill/>
        </p:spPr>
        <p:txBody>
          <a:bodyPr wrap="square" lIns="18288" rIns="18288" tIns="18288" bIns="18288" anchor="t">
            <a:spAutoFit/>
          </a:bodyPr>
          <a:lstStyle/>
          <a:p>
            <a:pPr algn="ctr">
              <a:spcAft>
                <a:spcPts val="0"/>
              </a:spcAft>
            </a:pPr>
            <a:r>
              <a:rPr sz="900" b="1" i="0">
                <a:solidFill>
                  <a:srgbClr val="071F18"/>
                </a:solidFill>
                <a:latin typeface="Aptos"/>
              </a:rPr>
              <a:t>03</a:t>
            </a:r>
          </a:p>
        </p:txBody>
      </p:sp>
      <p:sp>
        <p:nvSpPr>
          <p:cNvPr id="22" name="TextBox 21"/>
          <p:cNvSpPr txBox="1"/>
          <p:nvPr/>
        </p:nvSpPr>
        <p:spPr>
          <a:xfrm>
            <a:off x="6858000" y="1499616"/>
            <a:ext cx="1609344" cy="237744"/>
          </a:xfrm>
          <a:prstGeom prst="rect">
            <a:avLst/>
          </a:prstGeom>
          <a:noFill/>
        </p:spPr>
        <p:txBody>
          <a:bodyPr wrap="square" lIns="18288" rIns="18288" tIns="18288" bIns="18288" anchor="t">
            <a:spAutoFit/>
          </a:bodyPr>
          <a:lstStyle/>
          <a:p>
            <a:pPr algn="l">
              <a:spcAft>
                <a:spcPts val="0"/>
              </a:spcAft>
            </a:pPr>
            <a:r>
              <a:rPr sz="1350" b="1" i="0">
                <a:solidFill>
                  <a:srgbClr val="E4C967"/>
                </a:solidFill>
                <a:latin typeface="Aptos"/>
              </a:rPr>
              <a:t>MONITOR</a:t>
            </a:r>
          </a:p>
        </p:txBody>
      </p:sp>
      <p:sp>
        <p:nvSpPr>
          <p:cNvPr id="23" name="TextBox 22"/>
          <p:cNvSpPr txBox="1"/>
          <p:nvPr/>
        </p:nvSpPr>
        <p:spPr>
          <a:xfrm>
            <a:off x="6345936" y="2002536"/>
            <a:ext cx="2249424" cy="566928"/>
          </a:xfrm>
          <a:prstGeom prst="rect">
            <a:avLst/>
          </a:prstGeom>
          <a:noFill/>
        </p:spPr>
        <p:txBody>
          <a:bodyPr wrap="square" lIns="18288" rIns="18288" tIns="18288" bIns="18288" anchor="t">
            <a:spAutoFit/>
          </a:bodyPr>
          <a:lstStyle/>
          <a:p>
            <a:pPr algn="l">
              <a:spcAft>
                <a:spcPts val="0"/>
              </a:spcAft>
            </a:pPr>
            <a:r>
              <a:rPr sz="1070" b="0" i="0">
                <a:solidFill>
                  <a:srgbClr val="B6C9BB"/>
                </a:solidFill>
                <a:latin typeface="Aptos"/>
              </a:rPr>
              <a:t>Watch 24-hour resource trends, staff, noise, pollution and weather.</a:t>
            </a:r>
          </a:p>
        </p:txBody>
      </p:sp>
      <p:sp>
        <p:nvSpPr>
          <p:cNvPr id="24" name="TextBox 23"/>
          <p:cNvSpPr txBox="1"/>
          <p:nvPr/>
        </p:nvSpPr>
        <p:spPr>
          <a:xfrm>
            <a:off x="8769096" y="1801368"/>
            <a:ext cx="256032" cy="292608"/>
          </a:xfrm>
          <a:prstGeom prst="rect">
            <a:avLst/>
          </a:prstGeom>
          <a:noFill/>
        </p:spPr>
        <p:txBody>
          <a:bodyPr wrap="square" lIns="18288" rIns="18288" tIns="18288" bIns="18288" anchor="t">
            <a:spAutoFit/>
          </a:bodyPr>
          <a:lstStyle/>
          <a:p>
            <a:pPr algn="ctr">
              <a:spcAft>
                <a:spcPts val="0"/>
              </a:spcAft>
            </a:pPr>
            <a:r>
              <a:rPr sz="2000" b="1" i="0">
                <a:solidFill>
                  <a:srgbClr val="A7E87D"/>
                </a:solidFill>
                <a:latin typeface="Aptos"/>
              </a:rPr>
              <a:t>→</a:t>
            </a:r>
          </a:p>
        </p:txBody>
      </p:sp>
      <p:sp>
        <p:nvSpPr>
          <p:cNvPr id="25" name="Rounded Rectangle 24"/>
          <p:cNvSpPr/>
          <p:nvPr/>
        </p:nvSpPr>
        <p:spPr>
          <a:xfrm>
            <a:off x="9006840" y="1353312"/>
            <a:ext cx="2615184" cy="1408176"/>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71432" y="1527048"/>
            <a:ext cx="402336" cy="402336"/>
          </a:xfrm>
          <a:prstGeom prst="ellipse">
            <a:avLst/>
          </a:prstGeom>
          <a:solidFill>
            <a:srgbClr val="C79A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71432" y="1609344"/>
            <a:ext cx="402336" cy="146304"/>
          </a:xfrm>
          <a:prstGeom prst="rect">
            <a:avLst/>
          </a:prstGeom>
          <a:noFill/>
        </p:spPr>
        <p:txBody>
          <a:bodyPr wrap="square" lIns="18288" rIns="18288" tIns="18288" bIns="18288" anchor="t">
            <a:spAutoFit/>
          </a:bodyPr>
          <a:lstStyle/>
          <a:p>
            <a:pPr algn="ctr">
              <a:spcAft>
                <a:spcPts val="0"/>
              </a:spcAft>
            </a:pPr>
            <a:r>
              <a:rPr sz="900" b="1" i="0">
                <a:solidFill>
                  <a:srgbClr val="071F18"/>
                </a:solidFill>
                <a:latin typeface="Aptos"/>
              </a:rPr>
              <a:t>04</a:t>
            </a:r>
          </a:p>
        </p:txBody>
      </p:sp>
      <p:sp>
        <p:nvSpPr>
          <p:cNvPr id="28" name="TextBox 27"/>
          <p:cNvSpPr txBox="1"/>
          <p:nvPr/>
        </p:nvSpPr>
        <p:spPr>
          <a:xfrm>
            <a:off x="9701784" y="1499616"/>
            <a:ext cx="1609344" cy="237744"/>
          </a:xfrm>
          <a:prstGeom prst="rect">
            <a:avLst/>
          </a:prstGeom>
          <a:noFill/>
        </p:spPr>
        <p:txBody>
          <a:bodyPr wrap="square" lIns="18288" rIns="18288" tIns="18288" bIns="18288" anchor="t">
            <a:spAutoFit/>
          </a:bodyPr>
          <a:lstStyle/>
          <a:p>
            <a:pPr algn="l">
              <a:spcAft>
                <a:spcPts val="0"/>
              </a:spcAft>
            </a:pPr>
            <a:r>
              <a:rPr sz="1350" b="1" i="0">
                <a:solidFill>
                  <a:srgbClr val="C79AEC"/>
                </a:solidFill>
                <a:latin typeface="Aptos"/>
              </a:rPr>
              <a:t>ADAPT</a:t>
            </a:r>
          </a:p>
        </p:txBody>
      </p:sp>
      <p:sp>
        <p:nvSpPr>
          <p:cNvPr id="29" name="TextBox 28"/>
          <p:cNvSpPr txBox="1"/>
          <p:nvPr/>
        </p:nvSpPr>
        <p:spPr>
          <a:xfrm>
            <a:off x="9189719" y="2002536"/>
            <a:ext cx="2249424" cy="566928"/>
          </a:xfrm>
          <a:prstGeom prst="rect">
            <a:avLst/>
          </a:prstGeom>
          <a:noFill/>
        </p:spPr>
        <p:txBody>
          <a:bodyPr wrap="square" lIns="18288" rIns="18288" tIns="18288" bIns="18288" anchor="t">
            <a:spAutoFit/>
          </a:bodyPr>
          <a:lstStyle/>
          <a:p>
            <a:pPr algn="l">
              <a:spcAft>
                <a:spcPts val="0"/>
              </a:spcAft>
            </a:pPr>
            <a:r>
              <a:rPr sz="1070" b="0" i="0">
                <a:solidFill>
                  <a:srgbClr val="B6C9BB"/>
                </a:solidFill>
                <a:latin typeface="Aptos"/>
              </a:rPr>
              <a:t>Change layout, jobs, reserves and restoration before a threshold is crossed.</a:t>
            </a:r>
          </a:p>
        </p:txBody>
      </p:sp>
      <p:sp>
        <p:nvSpPr>
          <p:cNvPr id="30" name="Rounded Rectangle 29"/>
          <p:cNvSpPr/>
          <p:nvPr/>
        </p:nvSpPr>
        <p:spPr>
          <a:xfrm>
            <a:off x="475488" y="3127248"/>
            <a:ext cx="3630168" cy="2121408"/>
          </a:xfrm>
          <a:prstGeom prst="roundRect">
            <a:avLst/>
          </a:prstGeom>
          <a:solidFill>
            <a:srgbClr val="173F31"/>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 y="3328416"/>
            <a:ext cx="306324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THE GOAL</a:t>
            </a:r>
          </a:p>
        </p:txBody>
      </p:sp>
      <p:sp>
        <p:nvSpPr>
          <p:cNvPr id="32" name="TextBox 31"/>
          <p:cNvSpPr txBox="1"/>
          <p:nvPr/>
        </p:nvSpPr>
        <p:spPr>
          <a:xfrm>
            <a:off x="676656" y="3639312"/>
            <a:ext cx="3218688" cy="466344"/>
          </a:xfrm>
          <a:prstGeom prst="rect">
            <a:avLst/>
          </a:prstGeom>
          <a:noFill/>
        </p:spPr>
        <p:txBody>
          <a:bodyPr wrap="square" lIns="18288" rIns="18288" tIns="18288" bIns="18288" anchor="t">
            <a:spAutoFit/>
          </a:bodyPr>
          <a:lstStyle/>
          <a:p>
            <a:pPr algn="l">
              <a:spcAft>
                <a:spcPts val="0"/>
              </a:spcAft>
            </a:pPr>
            <a:r>
              <a:rPr sz="1650" b="1" i="0">
                <a:solidFill>
                  <a:srgbClr val="F3F1D5"/>
                </a:solidFill>
                <a:latin typeface="Georgia"/>
              </a:rPr>
              <a:t>Grow a functioning village</a:t>
            </a:r>
          </a:p>
        </p:txBody>
      </p:sp>
      <p:sp>
        <p:nvSpPr>
          <p:cNvPr id="33" name="TextBox 32"/>
          <p:cNvSpPr txBox="1"/>
          <p:nvPr/>
        </p:nvSpPr>
        <p:spPr>
          <a:xfrm>
            <a:off x="676656" y="4206240"/>
            <a:ext cx="3218688" cy="749808"/>
          </a:xfrm>
          <a:prstGeom prst="rect">
            <a:avLst/>
          </a:prstGeom>
          <a:noFill/>
        </p:spPr>
        <p:txBody>
          <a:bodyPr wrap="square" lIns="18288" rIns="18288" tIns="18288" bIns="18288" anchor="t">
            <a:spAutoFit/>
          </a:bodyPr>
          <a:lstStyle/>
          <a:p>
            <a:pPr algn="l">
              <a:spcAft>
                <a:spcPts val="0"/>
              </a:spcAft>
            </a:pPr>
            <a:r>
              <a:rPr sz="1130" b="0" i="0">
                <a:solidFill>
                  <a:srgbClr val="B6C9BB"/>
                </a:solidFill>
                <a:latin typeface="Aptos"/>
              </a:rPr>
              <a:t>Balance population, food, water, timber, stone, health, morale and education—without sacrificing the forest.</a:t>
            </a:r>
          </a:p>
        </p:txBody>
      </p:sp>
      <p:sp>
        <p:nvSpPr>
          <p:cNvPr id="34" name="Rounded Rectangle 33"/>
          <p:cNvSpPr/>
          <p:nvPr/>
        </p:nvSpPr>
        <p:spPr>
          <a:xfrm>
            <a:off x="4270248" y="3127248"/>
            <a:ext cx="3630168" cy="2121408"/>
          </a:xfrm>
          <a:prstGeom prst="roundRect">
            <a:avLst/>
          </a:prstGeom>
          <a:solidFill>
            <a:srgbClr val="173F31"/>
          </a:solidFill>
          <a:ln w="10160">
            <a:solidFill>
              <a:srgbClr val="E4C9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71416" y="3328416"/>
            <a:ext cx="3063240" cy="237744"/>
          </a:xfrm>
          <a:prstGeom prst="rect">
            <a:avLst/>
          </a:prstGeom>
          <a:noFill/>
        </p:spPr>
        <p:txBody>
          <a:bodyPr wrap="square" lIns="18288" rIns="18288" tIns="18288" bIns="18288" anchor="t">
            <a:spAutoFit/>
          </a:bodyPr>
          <a:lstStyle/>
          <a:p>
            <a:pPr algn="l">
              <a:spcAft>
                <a:spcPts val="0"/>
              </a:spcAft>
            </a:pPr>
            <a:r>
              <a:rPr sz="950" b="1" i="0">
                <a:solidFill>
                  <a:srgbClr val="E4C967"/>
                </a:solidFill>
                <a:latin typeface="Aptos"/>
              </a:rPr>
              <a:t>THE MAIN TENSION</a:t>
            </a:r>
          </a:p>
        </p:txBody>
      </p:sp>
      <p:sp>
        <p:nvSpPr>
          <p:cNvPr id="36" name="TextBox 35"/>
          <p:cNvSpPr txBox="1"/>
          <p:nvPr/>
        </p:nvSpPr>
        <p:spPr>
          <a:xfrm>
            <a:off x="4471416" y="3639312"/>
            <a:ext cx="3218688" cy="466344"/>
          </a:xfrm>
          <a:prstGeom prst="rect">
            <a:avLst/>
          </a:prstGeom>
          <a:noFill/>
        </p:spPr>
        <p:txBody>
          <a:bodyPr wrap="square" lIns="18288" rIns="18288" tIns="18288" bIns="18288" anchor="t">
            <a:spAutoFit/>
          </a:bodyPr>
          <a:lstStyle/>
          <a:p>
            <a:pPr algn="l">
              <a:spcAft>
                <a:spcPts val="0"/>
              </a:spcAft>
            </a:pPr>
            <a:r>
              <a:rPr sz="1650" b="1" i="0">
                <a:solidFill>
                  <a:srgbClr val="F3F1D5"/>
                </a:solidFill>
                <a:latin typeface="Georgia"/>
              </a:rPr>
              <a:t>Short-term output vs. long-term resilience</a:t>
            </a:r>
          </a:p>
        </p:txBody>
      </p:sp>
      <p:sp>
        <p:nvSpPr>
          <p:cNvPr id="37" name="TextBox 36"/>
          <p:cNvSpPr txBox="1"/>
          <p:nvPr/>
        </p:nvSpPr>
        <p:spPr>
          <a:xfrm>
            <a:off x="4471416" y="4206240"/>
            <a:ext cx="3218688" cy="749808"/>
          </a:xfrm>
          <a:prstGeom prst="rect">
            <a:avLst/>
          </a:prstGeom>
          <a:noFill/>
        </p:spPr>
        <p:txBody>
          <a:bodyPr wrap="square" lIns="18288" rIns="18288" tIns="18288" bIns="18288" anchor="t">
            <a:spAutoFit/>
          </a:bodyPr>
          <a:lstStyle/>
          <a:p>
            <a:pPr algn="l">
              <a:spcAft>
                <a:spcPts val="0"/>
              </a:spcAft>
            </a:pPr>
            <a:r>
              <a:rPr sz="1130" b="0" i="0">
                <a:solidFill>
                  <a:srgbClr val="B6C9BB"/>
                </a:solidFill>
                <a:latin typeface="Aptos"/>
              </a:rPr>
              <a:t>Industry can speed construction, but resource use, habitat loss, pollution and noise can weaken future production.</a:t>
            </a:r>
          </a:p>
        </p:txBody>
      </p:sp>
      <p:sp>
        <p:nvSpPr>
          <p:cNvPr id="38" name="Rounded Rectangle 37"/>
          <p:cNvSpPr/>
          <p:nvPr/>
        </p:nvSpPr>
        <p:spPr>
          <a:xfrm>
            <a:off x="8065008" y="3127248"/>
            <a:ext cx="3630168" cy="2121408"/>
          </a:xfrm>
          <a:prstGeom prst="roundRect">
            <a:avLst/>
          </a:prstGeom>
          <a:solidFill>
            <a:srgbClr val="173F31"/>
          </a:solidFill>
          <a:ln w="10160">
            <a:solidFill>
              <a:srgbClr val="F47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6176" y="3328416"/>
            <a:ext cx="3063240" cy="237744"/>
          </a:xfrm>
          <a:prstGeom prst="rect">
            <a:avLst/>
          </a:prstGeom>
          <a:noFill/>
        </p:spPr>
        <p:txBody>
          <a:bodyPr wrap="square" lIns="18288" rIns="18288" tIns="18288" bIns="18288" anchor="t">
            <a:spAutoFit/>
          </a:bodyPr>
          <a:lstStyle/>
          <a:p>
            <a:pPr algn="l">
              <a:spcAft>
                <a:spcPts val="0"/>
              </a:spcAft>
            </a:pPr>
            <a:r>
              <a:rPr sz="950" b="1" i="0">
                <a:solidFill>
                  <a:srgbClr val="F47E70"/>
                </a:solidFill>
                <a:latin typeface="Aptos"/>
              </a:rPr>
              <a:t>THE FAILURE RULE</a:t>
            </a:r>
          </a:p>
        </p:txBody>
      </p:sp>
      <p:sp>
        <p:nvSpPr>
          <p:cNvPr id="40" name="TextBox 39"/>
          <p:cNvSpPr txBox="1"/>
          <p:nvPr/>
        </p:nvSpPr>
        <p:spPr>
          <a:xfrm>
            <a:off x="8266176" y="3639312"/>
            <a:ext cx="3218688" cy="466344"/>
          </a:xfrm>
          <a:prstGeom prst="rect">
            <a:avLst/>
          </a:prstGeom>
          <a:noFill/>
        </p:spPr>
        <p:txBody>
          <a:bodyPr wrap="square" lIns="18288" rIns="18288" tIns="18288" bIns="18288" anchor="t">
            <a:spAutoFit/>
          </a:bodyPr>
          <a:lstStyle/>
          <a:p>
            <a:pPr algn="l">
              <a:spcAft>
                <a:spcPts val="0"/>
              </a:spcAft>
            </a:pPr>
            <a:r>
              <a:rPr sz="1650" b="1" i="0">
                <a:solidFill>
                  <a:srgbClr val="F3F1D5"/>
                </a:solidFill>
                <a:latin typeface="Georgia"/>
              </a:rPr>
              <a:t>A weak link can collapse the settlement</a:t>
            </a:r>
          </a:p>
        </p:txBody>
      </p:sp>
      <p:sp>
        <p:nvSpPr>
          <p:cNvPr id="41" name="TextBox 40"/>
          <p:cNvSpPr txBox="1"/>
          <p:nvPr/>
        </p:nvSpPr>
        <p:spPr>
          <a:xfrm>
            <a:off x="8266176" y="4206240"/>
            <a:ext cx="3218688" cy="749808"/>
          </a:xfrm>
          <a:prstGeom prst="rect">
            <a:avLst/>
          </a:prstGeom>
          <a:noFill/>
        </p:spPr>
        <p:txBody>
          <a:bodyPr wrap="square" lIns="18288" rIns="18288" tIns="18288" bIns="18288" anchor="t">
            <a:spAutoFit/>
          </a:bodyPr>
          <a:lstStyle/>
          <a:p>
            <a:pPr algn="l">
              <a:spcAft>
                <a:spcPts val="0"/>
              </a:spcAft>
            </a:pPr>
            <a:r>
              <a:rPr sz="1130" b="0" i="0">
                <a:solidFill>
                  <a:srgbClr val="B6C9BB"/>
                </a:solidFill>
                <a:latin typeface="Aptos"/>
              </a:rPr>
              <a:t>The village is lost below 5% overall ecosystem health, or immediately when any one of the six indicators reaches 0%.</a:t>
            </a:r>
          </a:p>
        </p:txBody>
      </p:sp>
      <p:sp>
        <p:nvSpPr>
          <p:cNvPr id="42" name="Rounded Rectangle 41"/>
          <p:cNvSpPr/>
          <p:nvPr/>
        </p:nvSpPr>
        <p:spPr>
          <a:xfrm>
            <a:off x="475488" y="5513832"/>
            <a:ext cx="11237976" cy="667512"/>
          </a:xfrm>
          <a:prstGeom prst="roundRect">
            <a:avLst/>
          </a:prstGeom>
          <a:solidFill>
            <a:srgbClr val="0A281F"/>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944" y="5641848"/>
            <a:ext cx="1481328" cy="201168"/>
          </a:xfrm>
          <a:prstGeom prst="rect">
            <a:avLst/>
          </a:prstGeom>
          <a:noFill/>
        </p:spPr>
        <p:txBody>
          <a:bodyPr wrap="square" lIns="18288" rIns="18288" tIns="18288" bIns="18288" anchor="t">
            <a:spAutoFit/>
          </a:bodyPr>
          <a:lstStyle/>
          <a:p>
            <a:pPr algn="l">
              <a:spcAft>
                <a:spcPts val="0"/>
              </a:spcAft>
            </a:pPr>
            <a:r>
              <a:rPr sz="1160" b="1" i="0">
                <a:solidFill>
                  <a:srgbClr val="A7E87D"/>
                </a:solidFill>
                <a:latin typeface="Aptos"/>
              </a:rPr>
              <a:t>100 × 100</a:t>
            </a:r>
          </a:p>
        </p:txBody>
      </p:sp>
      <p:sp>
        <p:nvSpPr>
          <p:cNvPr id="44" name="TextBox 43"/>
          <p:cNvSpPr txBox="1"/>
          <p:nvPr/>
        </p:nvSpPr>
        <p:spPr>
          <a:xfrm>
            <a:off x="694944" y="5870448"/>
            <a:ext cx="1600200" cy="146304"/>
          </a:xfrm>
          <a:prstGeom prst="rect">
            <a:avLst/>
          </a:prstGeom>
          <a:noFill/>
        </p:spPr>
        <p:txBody>
          <a:bodyPr wrap="square" lIns="18288" rIns="18288" tIns="18288" bIns="18288" anchor="t">
            <a:spAutoFit/>
          </a:bodyPr>
          <a:lstStyle/>
          <a:p>
            <a:pPr algn="l">
              <a:spcAft>
                <a:spcPts val="0"/>
              </a:spcAft>
            </a:pPr>
            <a:r>
              <a:rPr sz="830" b="0" i="0">
                <a:solidFill>
                  <a:srgbClr val="7F9B89"/>
                </a:solidFill>
                <a:latin typeface="Aptos"/>
              </a:rPr>
              <a:t>forest world</a:t>
            </a:r>
          </a:p>
        </p:txBody>
      </p:sp>
      <p:sp>
        <p:nvSpPr>
          <p:cNvPr id="45" name="Rectangle 44"/>
          <p:cNvSpPr/>
          <p:nvPr/>
        </p:nvSpPr>
        <p:spPr>
          <a:xfrm>
            <a:off x="2487168" y="5632704"/>
            <a:ext cx="10972" cy="356616"/>
          </a:xfrm>
          <a:prstGeom prst="rect">
            <a:avLst/>
          </a:prstGeom>
          <a:solidFill>
            <a:srgbClr val="2B5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16936" y="5641848"/>
            <a:ext cx="1481328" cy="201168"/>
          </a:xfrm>
          <a:prstGeom prst="rect">
            <a:avLst/>
          </a:prstGeom>
          <a:noFill/>
        </p:spPr>
        <p:txBody>
          <a:bodyPr wrap="square" lIns="18288" rIns="18288" tIns="18288" bIns="18288" anchor="t">
            <a:spAutoFit/>
          </a:bodyPr>
          <a:lstStyle/>
          <a:p>
            <a:pPr algn="l">
              <a:spcAft>
                <a:spcPts val="0"/>
              </a:spcAft>
            </a:pPr>
            <a:r>
              <a:rPr sz="1160" b="1" i="0">
                <a:solidFill>
                  <a:srgbClr val="A7E87D"/>
                </a:solidFill>
                <a:latin typeface="Aptos"/>
              </a:rPr>
              <a:t>3 minutes</a:t>
            </a:r>
          </a:p>
        </p:txBody>
      </p:sp>
      <p:sp>
        <p:nvSpPr>
          <p:cNvPr id="47" name="TextBox 46"/>
          <p:cNvSpPr txBox="1"/>
          <p:nvPr/>
        </p:nvSpPr>
        <p:spPr>
          <a:xfrm>
            <a:off x="2916936" y="5870448"/>
            <a:ext cx="1600200" cy="146304"/>
          </a:xfrm>
          <a:prstGeom prst="rect">
            <a:avLst/>
          </a:prstGeom>
          <a:noFill/>
        </p:spPr>
        <p:txBody>
          <a:bodyPr wrap="square" lIns="18288" rIns="18288" tIns="18288" bIns="18288" anchor="t">
            <a:spAutoFit/>
          </a:bodyPr>
          <a:lstStyle/>
          <a:p>
            <a:pPr algn="l">
              <a:spcAft>
                <a:spcPts val="0"/>
              </a:spcAft>
            </a:pPr>
            <a:r>
              <a:rPr sz="830" b="0" i="0">
                <a:solidFill>
                  <a:srgbClr val="7F9B89"/>
                </a:solidFill>
                <a:latin typeface="Aptos"/>
              </a:rPr>
              <a:t>per day at 1×</a:t>
            </a:r>
          </a:p>
        </p:txBody>
      </p:sp>
      <p:sp>
        <p:nvSpPr>
          <p:cNvPr id="48" name="Rectangle 47"/>
          <p:cNvSpPr/>
          <p:nvPr/>
        </p:nvSpPr>
        <p:spPr>
          <a:xfrm>
            <a:off x="4709160" y="5632704"/>
            <a:ext cx="10972" cy="356616"/>
          </a:xfrm>
          <a:prstGeom prst="rect">
            <a:avLst/>
          </a:prstGeom>
          <a:solidFill>
            <a:srgbClr val="2B5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38928" y="5641848"/>
            <a:ext cx="1481328" cy="201168"/>
          </a:xfrm>
          <a:prstGeom prst="rect">
            <a:avLst/>
          </a:prstGeom>
          <a:noFill/>
        </p:spPr>
        <p:txBody>
          <a:bodyPr wrap="square" lIns="18288" rIns="18288" tIns="18288" bIns="18288" anchor="t">
            <a:spAutoFit/>
          </a:bodyPr>
          <a:lstStyle/>
          <a:p>
            <a:pPr algn="l">
              <a:spcAft>
                <a:spcPts val="0"/>
              </a:spcAft>
            </a:pPr>
            <a:r>
              <a:rPr sz="1160" b="1" i="0">
                <a:solidFill>
                  <a:srgbClr val="A7E87D"/>
                </a:solidFill>
                <a:latin typeface="Aptos"/>
              </a:rPr>
              <a:t>1× / 2× / 3×</a:t>
            </a:r>
          </a:p>
        </p:txBody>
      </p:sp>
      <p:sp>
        <p:nvSpPr>
          <p:cNvPr id="50" name="TextBox 49"/>
          <p:cNvSpPr txBox="1"/>
          <p:nvPr/>
        </p:nvSpPr>
        <p:spPr>
          <a:xfrm>
            <a:off x="5138928" y="5870448"/>
            <a:ext cx="1600200" cy="146304"/>
          </a:xfrm>
          <a:prstGeom prst="rect">
            <a:avLst/>
          </a:prstGeom>
          <a:noFill/>
        </p:spPr>
        <p:txBody>
          <a:bodyPr wrap="square" lIns="18288" rIns="18288" tIns="18288" bIns="18288" anchor="t">
            <a:spAutoFit/>
          </a:bodyPr>
          <a:lstStyle/>
          <a:p>
            <a:pPr algn="l">
              <a:spcAft>
                <a:spcPts val="0"/>
              </a:spcAft>
            </a:pPr>
            <a:r>
              <a:rPr sz="830" b="0" i="0">
                <a:solidFill>
                  <a:srgbClr val="7F9B89"/>
                </a:solidFill>
                <a:latin typeface="Aptos"/>
              </a:rPr>
              <a:t>true simulation speed</a:t>
            </a:r>
          </a:p>
        </p:txBody>
      </p:sp>
      <p:sp>
        <p:nvSpPr>
          <p:cNvPr id="51" name="Rectangle 50"/>
          <p:cNvSpPr/>
          <p:nvPr/>
        </p:nvSpPr>
        <p:spPr>
          <a:xfrm>
            <a:off x="6931152" y="5632704"/>
            <a:ext cx="10972" cy="356616"/>
          </a:xfrm>
          <a:prstGeom prst="rect">
            <a:avLst/>
          </a:prstGeom>
          <a:solidFill>
            <a:srgbClr val="2B5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60920" y="5641848"/>
            <a:ext cx="1481328" cy="201168"/>
          </a:xfrm>
          <a:prstGeom prst="rect">
            <a:avLst/>
          </a:prstGeom>
          <a:noFill/>
        </p:spPr>
        <p:txBody>
          <a:bodyPr wrap="square" lIns="18288" rIns="18288" tIns="18288" bIns="18288" anchor="t">
            <a:spAutoFit/>
          </a:bodyPr>
          <a:lstStyle/>
          <a:p>
            <a:pPr algn="l">
              <a:spcAft>
                <a:spcPts val="0"/>
              </a:spcAft>
            </a:pPr>
            <a:r>
              <a:rPr sz="1160" b="1" i="0">
                <a:solidFill>
                  <a:srgbClr val="A7E87D"/>
                </a:solidFill>
                <a:latin typeface="Aptos"/>
              </a:rPr>
              <a:t>Freeplay + 8</a:t>
            </a:r>
          </a:p>
        </p:txBody>
      </p:sp>
      <p:sp>
        <p:nvSpPr>
          <p:cNvPr id="53" name="TextBox 52"/>
          <p:cNvSpPr txBox="1"/>
          <p:nvPr/>
        </p:nvSpPr>
        <p:spPr>
          <a:xfrm>
            <a:off x="7360920" y="5870448"/>
            <a:ext cx="1600200" cy="146304"/>
          </a:xfrm>
          <a:prstGeom prst="rect">
            <a:avLst/>
          </a:prstGeom>
          <a:noFill/>
        </p:spPr>
        <p:txBody>
          <a:bodyPr wrap="square" lIns="18288" rIns="18288" tIns="18288" bIns="18288" anchor="t">
            <a:spAutoFit/>
          </a:bodyPr>
          <a:lstStyle/>
          <a:p>
            <a:pPr algn="l">
              <a:spcAft>
                <a:spcPts val="0"/>
              </a:spcAft>
            </a:pPr>
            <a:r>
              <a:rPr sz="830" b="0" i="0">
                <a:solidFill>
                  <a:srgbClr val="7F9B89"/>
                </a:solidFill>
                <a:latin typeface="Aptos"/>
              </a:rPr>
              <a:t>challenge scenarios</a:t>
            </a:r>
          </a:p>
        </p:txBody>
      </p:sp>
      <p:sp>
        <p:nvSpPr>
          <p:cNvPr id="54" name="Rectangle 53"/>
          <p:cNvSpPr/>
          <p:nvPr/>
        </p:nvSpPr>
        <p:spPr>
          <a:xfrm>
            <a:off x="9153144" y="5632704"/>
            <a:ext cx="10972" cy="356616"/>
          </a:xfrm>
          <a:prstGeom prst="rect">
            <a:avLst/>
          </a:prstGeom>
          <a:solidFill>
            <a:srgbClr val="2B5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82912" y="5641848"/>
            <a:ext cx="1481328" cy="201168"/>
          </a:xfrm>
          <a:prstGeom prst="rect">
            <a:avLst/>
          </a:prstGeom>
          <a:noFill/>
        </p:spPr>
        <p:txBody>
          <a:bodyPr wrap="square" lIns="18288" rIns="18288" tIns="18288" bIns="18288" anchor="t">
            <a:spAutoFit/>
          </a:bodyPr>
          <a:lstStyle/>
          <a:p>
            <a:pPr algn="l">
              <a:spcAft>
                <a:spcPts val="0"/>
              </a:spcAft>
            </a:pPr>
            <a:r>
              <a:rPr sz="1160" b="1" i="0">
                <a:solidFill>
                  <a:srgbClr val="A7E87D"/>
                </a:solidFill>
                <a:latin typeface="Aptos"/>
              </a:rPr>
              <a:t>Local</a:t>
            </a:r>
          </a:p>
        </p:txBody>
      </p:sp>
      <p:sp>
        <p:nvSpPr>
          <p:cNvPr id="56" name="TextBox 55"/>
          <p:cNvSpPr txBox="1"/>
          <p:nvPr/>
        </p:nvSpPr>
        <p:spPr>
          <a:xfrm>
            <a:off x="9582912" y="5870448"/>
            <a:ext cx="1600200" cy="146304"/>
          </a:xfrm>
          <a:prstGeom prst="rect">
            <a:avLst/>
          </a:prstGeom>
          <a:noFill/>
        </p:spPr>
        <p:txBody>
          <a:bodyPr wrap="square" lIns="18288" rIns="18288" tIns="18288" bIns="18288" anchor="t">
            <a:spAutoFit/>
          </a:bodyPr>
          <a:lstStyle/>
          <a:p>
            <a:pPr algn="l">
              <a:spcAft>
                <a:spcPts val="0"/>
              </a:spcAft>
            </a:pPr>
            <a:r>
              <a:rPr sz="830" b="0" i="0">
                <a:solidFill>
                  <a:srgbClr val="7F9B89"/>
                </a:solidFill>
                <a:latin typeface="Aptos"/>
              </a:rPr>
              <a:t>browser save</a:t>
            </a:r>
          </a:p>
        </p:txBody>
      </p:sp>
      <p:sp>
        <p:nvSpPr>
          <p:cNvPr id="57" name="Rectangle 56"/>
          <p:cNvSpPr/>
          <p:nvPr/>
        </p:nvSpPr>
        <p:spPr>
          <a:xfrm>
            <a:off x="475488" y="6556248"/>
            <a:ext cx="11237976" cy="10972"/>
          </a:xfrm>
          <a:prstGeom prst="rect">
            <a:avLst/>
          </a:prstGeom>
          <a:solidFill>
            <a:srgbClr val="2B5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75488" y="6592824"/>
            <a:ext cx="6583680" cy="164592"/>
          </a:xfrm>
          <a:prstGeom prst="rect">
            <a:avLst/>
          </a:prstGeom>
          <a:noFill/>
        </p:spPr>
        <p:txBody>
          <a:bodyPr wrap="square" lIns="18288" rIns="18288" tIns="18288" bIns="18288" anchor="t">
            <a:spAutoFit/>
          </a:bodyPr>
          <a:lstStyle/>
          <a:p>
            <a:pPr algn="l">
              <a:spcAft>
                <a:spcPts val="0"/>
              </a:spcAft>
            </a:pPr>
            <a:r>
              <a:rPr sz="750" b="1" i="0">
                <a:solidFill>
                  <a:srgbClr val="7F9B89"/>
                </a:solidFill>
                <a:latin typeface="Aptos"/>
              </a:rPr>
              <a:t>WILDROOT VILLAGE · ECOSYSTEM VILLAGE PROJECT</a:t>
            </a:r>
          </a:p>
        </p:txBody>
      </p:sp>
      <p:sp>
        <p:nvSpPr>
          <p:cNvPr id="59" name="TextBox 58"/>
          <p:cNvSpPr txBox="1"/>
          <p:nvPr/>
        </p:nvSpPr>
        <p:spPr>
          <a:xfrm>
            <a:off x="11384280" y="6574536"/>
            <a:ext cx="320040" cy="164592"/>
          </a:xfrm>
          <a:prstGeom prst="rect">
            <a:avLst/>
          </a:prstGeom>
          <a:noFill/>
        </p:spPr>
        <p:txBody>
          <a:bodyPr wrap="square" lIns="18288" rIns="18288" tIns="18288" bIns="18288" anchor="t">
            <a:spAutoFit/>
          </a:bodyPr>
          <a:lstStyle/>
          <a:p>
            <a:pPr algn="r">
              <a:spcAft>
                <a:spcPts val="0"/>
              </a:spcAft>
            </a:pPr>
            <a:r>
              <a:rPr sz="850" b="1" i="0">
                <a:solidFill>
                  <a:srgbClr val="7F9B89"/>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F18"/>
        </a:solidFill>
        <a:effectLst/>
      </p:bgPr>
    </p:bg>
    <p:spTree>
      <p:nvGrpSpPr>
        <p:cNvPr id="1" name=""/>
        <p:cNvGrpSpPr/>
        <p:nvPr/>
      </p:nvGrpSpPr>
      <p:grpSpPr/>
      <p:sp>
        <p:nvSpPr>
          <p:cNvPr id="2" name="TextBox 1"/>
          <p:cNvSpPr txBox="1"/>
          <p:nvPr/>
        </p:nvSpPr>
        <p:spPr>
          <a:xfrm>
            <a:off x="475488" y="256032"/>
            <a:ext cx="530352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INTERFACE TOUR</a:t>
            </a:r>
          </a:p>
        </p:txBody>
      </p:sp>
      <p:sp>
        <p:nvSpPr>
          <p:cNvPr id="3" name="TextBox 2"/>
          <p:cNvSpPr txBox="1"/>
          <p:nvPr/>
        </p:nvSpPr>
        <p:spPr>
          <a:xfrm>
            <a:off x="475488" y="493776"/>
            <a:ext cx="10698480" cy="475488"/>
          </a:xfrm>
          <a:prstGeom prst="rect">
            <a:avLst/>
          </a:prstGeom>
          <a:noFill/>
        </p:spPr>
        <p:txBody>
          <a:bodyPr wrap="square" lIns="18288" rIns="18288" tIns="18288" bIns="18288" anchor="t">
            <a:spAutoFit/>
          </a:bodyPr>
          <a:lstStyle/>
          <a:p>
            <a:pPr algn="l">
              <a:spcAft>
                <a:spcPts val="0"/>
              </a:spcAft>
            </a:pPr>
            <a:r>
              <a:rPr sz="2800" b="1" i="0">
                <a:solidFill>
                  <a:srgbClr val="F3F1D5"/>
                </a:solidFill>
                <a:latin typeface="Georgia"/>
              </a:rPr>
              <a:t>How the player controls the village</a:t>
            </a:r>
          </a:p>
        </p:txBody>
      </p:sp>
      <p:sp>
        <p:nvSpPr>
          <p:cNvPr id="4" name="TextBox 3"/>
          <p:cNvSpPr txBox="1"/>
          <p:nvPr/>
        </p:nvSpPr>
        <p:spPr>
          <a:xfrm>
            <a:off x="493776" y="932688"/>
            <a:ext cx="10607040" cy="292608"/>
          </a:xfrm>
          <a:prstGeom prst="rect">
            <a:avLst/>
          </a:prstGeom>
          <a:noFill/>
        </p:spPr>
        <p:txBody>
          <a:bodyPr wrap="square" lIns="18288" rIns="18288" tIns="18288" bIns="18288" anchor="t">
            <a:spAutoFit/>
          </a:bodyPr>
          <a:lstStyle/>
          <a:p>
            <a:pPr algn="l">
              <a:spcAft>
                <a:spcPts val="0"/>
              </a:spcAft>
            </a:pPr>
            <a:r>
              <a:rPr sz="1120" b="0" i="0">
                <a:solidFill>
                  <a:srgbClr val="B6C9BB"/>
                </a:solidFill>
                <a:latin typeface="Aptos"/>
              </a:rPr>
              <a:t>The screen keeps construction, simulation evidence and environmental feedback visible at the same time.</a:t>
            </a:r>
          </a:p>
        </p:txBody>
      </p:sp>
      <p:sp>
        <p:nvSpPr>
          <p:cNvPr id="5" name="TextBox 4"/>
          <p:cNvSpPr txBox="1"/>
          <p:nvPr/>
        </p:nvSpPr>
        <p:spPr>
          <a:xfrm>
            <a:off x="11265408" y="338328"/>
            <a:ext cx="438912" cy="274320"/>
          </a:xfrm>
          <a:prstGeom prst="rect">
            <a:avLst/>
          </a:prstGeom>
          <a:noFill/>
        </p:spPr>
        <p:txBody>
          <a:bodyPr wrap="square" lIns="18288" rIns="18288" tIns="18288" bIns="18288" anchor="t">
            <a:spAutoFit/>
          </a:bodyPr>
          <a:lstStyle/>
          <a:p>
            <a:pPr algn="r">
              <a:spcAft>
                <a:spcPts val="0"/>
              </a:spcAft>
            </a:pPr>
            <a:r>
              <a:rPr sz="1000" b="1" i="0">
                <a:solidFill>
                  <a:srgbClr val="A7E87D"/>
                </a:solidFill>
                <a:latin typeface="Aptos"/>
              </a:rPr>
              <a:t>04</a:t>
            </a:r>
          </a:p>
        </p:txBody>
      </p:sp>
      <p:sp>
        <p:nvSpPr>
          <p:cNvPr id="6" name="Rectangle 5"/>
          <p:cNvSpPr/>
          <p:nvPr/>
        </p:nvSpPr>
        <p:spPr>
          <a:xfrm>
            <a:off x="11804904" y="274320"/>
            <a:ext cx="27432" cy="502920"/>
          </a:xfrm>
          <a:prstGeom prst="rect">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84048" y="1271016"/>
            <a:ext cx="8101583" cy="4599432"/>
          </a:xfrm>
          <a:prstGeom prst="roundRect">
            <a:avLst/>
          </a:prstGeom>
          <a:solidFill>
            <a:srgbClr val="061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illage-gameplay.png"/>
          <p:cNvPicPr>
            <a:picLocks noChangeAspect="1"/>
          </p:cNvPicPr>
          <p:nvPr/>
        </p:nvPicPr>
        <p:blipFill>
          <a:blip r:embed="rId2"/>
          <a:srcRect t="230" b="230"/>
          <a:stretch>
            <a:fillRect/>
          </a:stretch>
        </p:blipFill>
        <p:spPr>
          <a:xfrm>
            <a:off x="466344" y="1353312"/>
            <a:ext cx="7936992" cy="4443984"/>
          </a:xfrm>
          <a:prstGeom prst="rect">
            <a:avLst/>
          </a:prstGeom>
        </p:spPr>
      </p:pic>
      <p:sp>
        <p:nvSpPr>
          <p:cNvPr id="9" name="Rectangle 8"/>
          <p:cNvSpPr/>
          <p:nvPr/>
        </p:nvSpPr>
        <p:spPr>
          <a:xfrm>
            <a:off x="466344" y="1353312"/>
            <a:ext cx="7936992" cy="4443984"/>
          </a:xfrm>
          <a:prstGeom prst="rect">
            <a:avLst/>
          </a:prstGeom>
          <a:noFill/>
          <a:ln w="1651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145536" y="1472184"/>
            <a:ext cx="301752" cy="301752"/>
          </a:xfrm>
          <a:prstGeom prst="ellipse">
            <a:avLst/>
          </a:prstGeom>
          <a:solidFill>
            <a:srgbClr val="A7E87D"/>
          </a:solidFill>
          <a:ln w="15240">
            <a:solidFill>
              <a:srgbClr val="071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45536" y="1485900"/>
            <a:ext cx="301752" cy="219456"/>
          </a:xfrm>
          <a:prstGeom prst="rect">
            <a:avLst/>
          </a:prstGeom>
          <a:noFill/>
        </p:spPr>
        <p:txBody>
          <a:bodyPr wrap="square" lIns="18288" rIns="18288" tIns="18288" bIns="18288" anchor="ctr">
            <a:spAutoFit/>
          </a:bodyPr>
          <a:lstStyle/>
          <a:p>
            <a:pPr algn="ctr">
              <a:spcAft>
                <a:spcPts val="0"/>
              </a:spcAft>
            </a:pPr>
            <a:r>
              <a:rPr sz="1019" b="1" i="0">
                <a:solidFill>
                  <a:srgbClr val="071F18"/>
                </a:solidFill>
                <a:latin typeface="Aptos"/>
              </a:rPr>
              <a:t>1</a:t>
            </a:r>
          </a:p>
        </p:txBody>
      </p:sp>
      <p:sp>
        <p:nvSpPr>
          <p:cNvPr id="12" name="Oval 11"/>
          <p:cNvSpPr/>
          <p:nvPr/>
        </p:nvSpPr>
        <p:spPr>
          <a:xfrm>
            <a:off x="658368" y="2587752"/>
            <a:ext cx="301752" cy="301752"/>
          </a:xfrm>
          <a:prstGeom prst="ellipse">
            <a:avLst/>
          </a:prstGeom>
          <a:solidFill>
            <a:srgbClr val="A7E87D"/>
          </a:solidFill>
          <a:ln w="15240">
            <a:solidFill>
              <a:srgbClr val="071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601468"/>
            <a:ext cx="301752" cy="219456"/>
          </a:xfrm>
          <a:prstGeom prst="rect">
            <a:avLst/>
          </a:prstGeom>
          <a:noFill/>
        </p:spPr>
        <p:txBody>
          <a:bodyPr wrap="square" lIns="18288" rIns="18288" tIns="18288" bIns="18288" anchor="ctr">
            <a:spAutoFit/>
          </a:bodyPr>
          <a:lstStyle/>
          <a:p>
            <a:pPr algn="ctr">
              <a:spcAft>
                <a:spcPts val="0"/>
              </a:spcAft>
            </a:pPr>
            <a:r>
              <a:rPr sz="1019" b="1" i="0">
                <a:solidFill>
                  <a:srgbClr val="071F18"/>
                </a:solidFill>
                <a:latin typeface="Aptos"/>
              </a:rPr>
              <a:t>2</a:t>
            </a:r>
          </a:p>
        </p:txBody>
      </p:sp>
      <p:sp>
        <p:nvSpPr>
          <p:cNvPr id="14" name="Oval 13"/>
          <p:cNvSpPr/>
          <p:nvPr/>
        </p:nvSpPr>
        <p:spPr>
          <a:xfrm>
            <a:off x="4398264" y="3127248"/>
            <a:ext cx="301752" cy="301752"/>
          </a:xfrm>
          <a:prstGeom prst="ellipse">
            <a:avLst/>
          </a:prstGeom>
          <a:solidFill>
            <a:srgbClr val="A7E87D"/>
          </a:solidFill>
          <a:ln w="15240">
            <a:solidFill>
              <a:srgbClr val="071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98264" y="3140964"/>
            <a:ext cx="301752" cy="219456"/>
          </a:xfrm>
          <a:prstGeom prst="rect">
            <a:avLst/>
          </a:prstGeom>
          <a:noFill/>
        </p:spPr>
        <p:txBody>
          <a:bodyPr wrap="square" lIns="18288" rIns="18288" tIns="18288" bIns="18288" anchor="ctr">
            <a:spAutoFit/>
          </a:bodyPr>
          <a:lstStyle/>
          <a:p>
            <a:pPr algn="ctr">
              <a:spcAft>
                <a:spcPts val="0"/>
              </a:spcAft>
            </a:pPr>
            <a:r>
              <a:rPr sz="1019" b="1" i="0">
                <a:solidFill>
                  <a:srgbClr val="071F18"/>
                </a:solidFill>
                <a:latin typeface="Aptos"/>
              </a:rPr>
              <a:t>3</a:t>
            </a:r>
          </a:p>
        </p:txBody>
      </p:sp>
      <p:sp>
        <p:nvSpPr>
          <p:cNvPr id="16" name="Oval 15"/>
          <p:cNvSpPr/>
          <p:nvPr/>
        </p:nvSpPr>
        <p:spPr>
          <a:xfrm>
            <a:off x="7909560" y="2496312"/>
            <a:ext cx="301752" cy="301752"/>
          </a:xfrm>
          <a:prstGeom prst="ellipse">
            <a:avLst/>
          </a:prstGeom>
          <a:solidFill>
            <a:srgbClr val="A7E87D"/>
          </a:solidFill>
          <a:ln w="15240">
            <a:solidFill>
              <a:srgbClr val="071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2510028"/>
            <a:ext cx="301752" cy="219456"/>
          </a:xfrm>
          <a:prstGeom prst="rect">
            <a:avLst/>
          </a:prstGeom>
          <a:noFill/>
        </p:spPr>
        <p:txBody>
          <a:bodyPr wrap="square" lIns="18288" rIns="18288" tIns="18288" bIns="18288" anchor="ctr">
            <a:spAutoFit/>
          </a:bodyPr>
          <a:lstStyle/>
          <a:p>
            <a:pPr algn="ctr">
              <a:spcAft>
                <a:spcPts val="0"/>
              </a:spcAft>
            </a:pPr>
            <a:r>
              <a:rPr sz="1019" b="1" i="0">
                <a:solidFill>
                  <a:srgbClr val="071F18"/>
                </a:solidFill>
                <a:latin typeface="Aptos"/>
              </a:rPr>
              <a:t>4</a:t>
            </a:r>
          </a:p>
        </p:txBody>
      </p:sp>
      <p:sp>
        <p:nvSpPr>
          <p:cNvPr id="18" name="Oval 17"/>
          <p:cNvSpPr/>
          <p:nvPr/>
        </p:nvSpPr>
        <p:spPr>
          <a:xfrm>
            <a:off x="5248656" y="5330952"/>
            <a:ext cx="301752" cy="301752"/>
          </a:xfrm>
          <a:prstGeom prst="ellipse">
            <a:avLst/>
          </a:prstGeom>
          <a:solidFill>
            <a:srgbClr val="A7E87D"/>
          </a:solidFill>
          <a:ln w="15240">
            <a:solidFill>
              <a:srgbClr val="071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48656" y="5344668"/>
            <a:ext cx="301752" cy="219456"/>
          </a:xfrm>
          <a:prstGeom prst="rect">
            <a:avLst/>
          </a:prstGeom>
          <a:noFill/>
        </p:spPr>
        <p:txBody>
          <a:bodyPr wrap="square" lIns="18288" rIns="18288" tIns="18288" bIns="18288" anchor="ctr">
            <a:spAutoFit/>
          </a:bodyPr>
          <a:lstStyle/>
          <a:p>
            <a:pPr algn="ctr">
              <a:spcAft>
                <a:spcPts val="0"/>
              </a:spcAft>
            </a:pPr>
            <a:r>
              <a:rPr sz="1019" b="1" i="0">
                <a:solidFill>
                  <a:srgbClr val="071F18"/>
                </a:solidFill>
                <a:latin typeface="Aptos"/>
              </a:rPr>
              <a:t>5</a:t>
            </a:r>
          </a:p>
        </p:txBody>
      </p:sp>
      <p:sp>
        <p:nvSpPr>
          <p:cNvPr id="20" name="Rounded Rectangle 19"/>
          <p:cNvSpPr/>
          <p:nvPr/>
        </p:nvSpPr>
        <p:spPr>
          <a:xfrm>
            <a:off x="8677656" y="1344168"/>
            <a:ext cx="3035808" cy="749808"/>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833104" y="1527048"/>
            <a:ext cx="301752" cy="301752"/>
          </a:xfrm>
          <a:prstGeom prst="ellipse">
            <a:avLst/>
          </a:prstGeom>
          <a:solidFill>
            <a:srgbClr val="A7E87D"/>
          </a:solidFill>
          <a:ln w="15240">
            <a:solidFill>
              <a:srgbClr val="071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33104" y="1540763"/>
            <a:ext cx="301752" cy="219456"/>
          </a:xfrm>
          <a:prstGeom prst="rect">
            <a:avLst/>
          </a:prstGeom>
          <a:noFill/>
        </p:spPr>
        <p:txBody>
          <a:bodyPr wrap="square" lIns="18288" rIns="18288" tIns="18288" bIns="18288" anchor="ctr">
            <a:spAutoFit/>
          </a:bodyPr>
          <a:lstStyle/>
          <a:p>
            <a:pPr algn="ctr">
              <a:spcAft>
                <a:spcPts val="0"/>
              </a:spcAft>
            </a:pPr>
            <a:r>
              <a:rPr sz="1019" b="1" i="0">
                <a:solidFill>
                  <a:srgbClr val="071F18"/>
                </a:solidFill>
                <a:latin typeface="Aptos"/>
              </a:rPr>
              <a:t>1</a:t>
            </a:r>
          </a:p>
        </p:txBody>
      </p:sp>
      <p:sp>
        <p:nvSpPr>
          <p:cNvPr id="23" name="TextBox 22"/>
          <p:cNvSpPr txBox="1"/>
          <p:nvPr/>
        </p:nvSpPr>
        <p:spPr>
          <a:xfrm>
            <a:off x="9235440" y="1463040"/>
            <a:ext cx="2221992" cy="201168"/>
          </a:xfrm>
          <a:prstGeom prst="rect">
            <a:avLst/>
          </a:prstGeom>
          <a:noFill/>
        </p:spPr>
        <p:txBody>
          <a:bodyPr wrap="square" lIns="18288" rIns="18288" tIns="18288" bIns="18288" anchor="t">
            <a:spAutoFit/>
          </a:bodyPr>
          <a:lstStyle/>
          <a:p>
            <a:pPr algn="l">
              <a:spcAft>
                <a:spcPts val="0"/>
              </a:spcAft>
            </a:pPr>
            <a:r>
              <a:rPr sz="1120" b="1" i="0">
                <a:solidFill>
                  <a:srgbClr val="F3F1D5"/>
                </a:solidFill>
                <a:latin typeface="Aptos"/>
              </a:rPr>
              <a:t>Resources + time</a:t>
            </a:r>
          </a:p>
        </p:txBody>
      </p:sp>
      <p:sp>
        <p:nvSpPr>
          <p:cNvPr id="24" name="TextBox 23"/>
          <p:cNvSpPr txBox="1"/>
          <p:nvPr/>
        </p:nvSpPr>
        <p:spPr>
          <a:xfrm>
            <a:off x="9235440" y="1700784"/>
            <a:ext cx="2267712" cy="310896"/>
          </a:xfrm>
          <a:prstGeom prst="rect">
            <a:avLst/>
          </a:prstGeom>
          <a:noFill/>
        </p:spPr>
        <p:txBody>
          <a:bodyPr wrap="square" lIns="18288" rIns="18288" tIns="18288" bIns="18288" anchor="t">
            <a:spAutoFit/>
          </a:bodyPr>
          <a:lstStyle/>
          <a:p>
            <a:pPr algn="l">
              <a:spcAft>
                <a:spcPts val="0"/>
              </a:spcAft>
            </a:pPr>
            <a:r>
              <a:rPr sz="880" b="0" i="0">
                <a:solidFill>
                  <a:srgbClr val="B6C9BB"/>
                </a:solidFill>
                <a:latin typeface="Aptos"/>
              </a:rPr>
              <a:t>Population, stored materials, /day trends, season, weather and speed controls.</a:t>
            </a:r>
          </a:p>
        </p:txBody>
      </p:sp>
      <p:sp>
        <p:nvSpPr>
          <p:cNvPr id="25" name="Rounded Rectangle 24"/>
          <p:cNvSpPr/>
          <p:nvPr/>
        </p:nvSpPr>
        <p:spPr>
          <a:xfrm>
            <a:off x="8677656" y="2203704"/>
            <a:ext cx="3035808" cy="749808"/>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833104" y="2386584"/>
            <a:ext cx="301752" cy="301752"/>
          </a:xfrm>
          <a:prstGeom prst="ellipse">
            <a:avLst/>
          </a:prstGeom>
          <a:solidFill>
            <a:srgbClr val="A7E87D"/>
          </a:solidFill>
          <a:ln w="15240">
            <a:solidFill>
              <a:srgbClr val="071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33104" y="2400300"/>
            <a:ext cx="301752" cy="219456"/>
          </a:xfrm>
          <a:prstGeom prst="rect">
            <a:avLst/>
          </a:prstGeom>
          <a:noFill/>
        </p:spPr>
        <p:txBody>
          <a:bodyPr wrap="square" lIns="18288" rIns="18288" tIns="18288" bIns="18288" anchor="ctr">
            <a:spAutoFit/>
          </a:bodyPr>
          <a:lstStyle/>
          <a:p>
            <a:pPr algn="ctr">
              <a:spcAft>
                <a:spcPts val="0"/>
              </a:spcAft>
            </a:pPr>
            <a:r>
              <a:rPr sz="1019" b="1" i="0">
                <a:solidFill>
                  <a:srgbClr val="071F18"/>
                </a:solidFill>
                <a:latin typeface="Aptos"/>
              </a:rPr>
              <a:t>2</a:t>
            </a:r>
          </a:p>
        </p:txBody>
      </p:sp>
      <p:sp>
        <p:nvSpPr>
          <p:cNvPr id="28" name="TextBox 27"/>
          <p:cNvSpPr txBox="1"/>
          <p:nvPr/>
        </p:nvSpPr>
        <p:spPr>
          <a:xfrm>
            <a:off x="9235440" y="2322576"/>
            <a:ext cx="2221992" cy="201168"/>
          </a:xfrm>
          <a:prstGeom prst="rect">
            <a:avLst/>
          </a:prstGeom>
          <a:noFill/>
        </p:spPr>
        <p:txBody>
          <a:bodyPr wrap="square" lIns="18288" rIns="18288" tIns="18288" bIns="18288" anchor="t">
            <a:spAutoFit/>
          </a:bodyPr>
          <a:lstStyle/>
          <a:p>
            <a:pPr algn="l">
              <a:spcAft>
                <a:spcPts val="0"/>
              </a:spcAft>
            </a:pPr>
            <a:r>
              <a:rPr sz="1120" b="1" i="0">
                <a:solidFill>
                  <a:srgbClr val="F3F1D5"/>
                </a:solidFill>
                <a:latin typeface="Aptos"/>
              </a:rPr>
              <a:t>Planning desk</a:t>
            </a:r>
          </a:p>
        </p:txBody>
      </p:sp>
      <p:sp>
        <p:nvSpPr>
          <p:cNvPr id="29" name="TextBox 28"/>
          <p:cNvSpPr txBox="1"/>
          <p:nvPr/>
        </p:nvSpPr>
        <p:spPr>
          <a:xfrm>
            <a:off x="9235440" y="2560320"/>
            <a:ext cx="2267712" cy="310896"/>
          </a:xfrm>
          <a:prstGeom prst="rect">
            <a:avLst/>
          </a:prstGeom>
          <a:noFill/>
        </p:spPr>
        <p:txBody>
          <a:bodyPr wrap="square" lIns="18288" rIns="18288" tIns="18288" bIns="18288" anchor="t">
            <a:spAutoFit/>
          </a:bodyPr>
          <a:lstStyle/>
          <a:p>
            <a:pPr algn="l">
              <a:spcAft>
                <a:spcPts val="0"/>
              </a:spcAft>
            </a:pPr>
            <a:r>
              <a:rPr sz="880" b="0" i="0">
                <a:solidFill>
                  <a:srgbClr val="B6C9BB"/>
                </a:solidFill>
                <a:latin typeface="Aptos"/>
              </a:rPr>
              <a:t>Choose Village, Work or Nature buildings; then Inspect or Destroy.</a:t>
            </a:r>
          </a:p>
        </p:txBody>
      </p:sp>
      <p:sp>
        <p:nvSpPr>
          <p:cNvPr id="30" name="Rounded Rectangle 29"/>
          <p:cNvSpPr/>
          <p:nvPr/>
        </p:nvSpPr>
        <p:spPr>
          <a:xfrm>
            <a:off x="8677656" y="3063240"/>
            <a:ext cx="3035808" cy="749808"/>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833104" y="3246120"/>
            <a:ext cx="301752" cy="301752"/>
          </a:xfrm>
          <a:prstGeom prst="ellipse">
            <a:avLst/>
          </a:prstGeom>
          <a:solidFill>
            <a:srgbClr val="A7E87D"/>
          </a:solidFill>
          <a:ln w="15240">
            <a:solidFill>
              <a:srgbClr val="071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33104" y="3259836"/>
            <a:ext cx="301752" cy="219456"/>
          </a:xfrm>
          <a:prstGeom prst="rect">
            <a:avLst/>
          </a:prstGeom>
          <a:noFill/>
        </p:spPr>
        <p:txBody>
          <a:bodyPr wrap="square" lIns="18288" rIns="18288" tIns="18288" bIns="18288" anchor="ctr">
            <a:spAutoFit/>
          </a:bodyPr>
          <a:lstStyle/>
          <a:p>
            <a:pPr algn="ctr">
              <a:spcAft>
                <a:spcPts val="0"/>
              </a:spcAft>
            </a:pPr>
            <a:r>
              <a:rPr sz="1019" b="1" i="0">
                <a:solidFill>
                  <a:srgbClr val="071F18"/>
                </a:solidFill>
                <a:latin typeface="Aptos"/>
              </a:rPr>
              <a:t>3</a:t>
            </a:r>
          </a:p>
        </p:txBody>
      </p:sp>
      <p:sp>
        <p:nvSpPr>
          <p:cNvPr id="33" name="TextBox 32"/>
          <p:cNvSpPr txBox="1"/>
          <p:nvPr/>
        </p:nvSpPr>
        <p:spPr>
          <a:xfrm>
            <a:off x="9235440" y="3182112"/>
            <a:ext cx="2221992" cy="201168"/>
          </a:xfrm>
          <a:prstGeom prst="rect">
            <a:avLst/>
          </a:prstGeom>
          <a:noFill/>
        </p:spPr>
        <p:txBody>
          <a:bodyPr wrap="square" lIns="18288" rIns="18288" tIns="18288" bIns="18288" anchor="t">
            <a:spAutoFit/>
          </a:bodyPr>
          <a:lstStyle/>
          <a:p>
            <a:pPr algn="l">
              <a:spcAft>
                <a:spcPts val="0"/>
              </a:spcAft>
            </a:pPr>
            <a:r>
              <a:rPr sz="1120" b="1" i="0">
                <a:solidFill>
                  <a:srgbClr val="F3F1D5"/>
                </a:solidFill>
                <a:latin typeface="Aptos"/>
              </a:rPr>
              <a:t>Living map</a:t>
            </a:r>
          </a:p>
        </p:txBody>
      </p:sp>
      <p:sp>
        <p:nvSpPr>
          <p:cNvPr id="34" name="TextBox 33"/>
          <p:cNvSpPr txBox="1"/>
          <p:nvPr/>
        </p:nvSpPr>
        <p:spPr>
          <a:xfrm>
            <a:off x="9235440" y="3419856"/>
            <a:ext cx="2267712" cy="310896"/>
          </a:xfrm>
          <a:prstGeom prst="rect">
            <a:avLst/>
          </a:prstGeom>
          <a:noFill/>
        </p:spPr>
        <p:txBody>
          <a:bodyPr wrap="square" lIns="18288" rIns="18288" tIns="18288" bIns="18288" anchor="t">
            <a:spAutoFit/>
          </a:bodyPr>
          <a:lstStyle/>
          <a:p>
            <a:pPr algn="l">
              <a:spcAft>
                <a:spcPts val="0"/>
              </a:spcAft>
            </a:pPr>
            <a:r>
              <a:rPr sz="880" b="0" i="0">
                <a:solidFill>
                  <a:srgbClr val="B6C9BB"/>
                </a:solidFill>
                <a:latin typeface="Aptos"/>
              </a:rPr>
              <a:t>Drag and zoom across the 100 × 100 forest; place only on free clearing tiles.</a:t>
            </a:r>
          </a:p>
        </p:txBody>
      </p:sp>
      <p:sp>
        <p:nvSpPr>
          <p:cNvPr id="35" name="Rounded Rectangle 34"/>
          <p:cNvSpPr/>
          <p:nvPr/>
        </p:nvSpPr>
        <p:spPr>
          <a:xfrm>
            <a:off x="8677656" y="3922776"/>
            <a:ext cx="3035808" cy="749808"/>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33104" y="4105656"/>
            <a:ext cx="301752" cy="301752"/>
          </a:xfrm>
          <a:prstGeom prst="ellipse">
            <a:avLst/>
          </a:prstGeom>
          <a:solidFill>
            <a:srgbClr val="A7E87D"/>
          </a:solidFill>
          <a:ln w="15240">
            <a:solidFill>
              <a:srgbClr val="071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33104" y="4119372"/>
            <a:ext cx="301752" cy="219456"/>
          </a:xfrm>
          <a:prstGeom prst="rect">
            <a:avLst/>
          </a:prstGeom>
          <a:noFill/>
        </p:spPr>
        <p:txBody>
          <a:bodyPr wrap="square" lIns="18288" rIns="18288" tIns="18288" bIns="18288" anchor="ctr">
            <a:spAutoFit/>
          </a:bodyPr>
          <a:lstStyle/>
          <a:p>
            <a:pPr algn="ctr">
              <a:spcAft>
                <a:spcPts val="0"/>
              </a:spcAft>
            </a:pPr>
            <a:r>
              <a:rPr sz="1019" b="1" i="0">
                <a:solidFill>
                  <a:srgbClr val="071F18"/>
                </a:solidFill>
                <a:latin typeface="Aptos"/>
              </a:rPr>
              <a:t>4</a:t>
            </a:r>
          </a:p>
        </p:txBody>
      </p:sp>
      <p:sp>
        <p:nvSpPr>
          <p:cNvPr id="38" name="TextBox 37"/>
          <p:cNvSpPr txBox="1"/>
          <p:nvPr/>
        </p:nvSpPr>
        <p:spPr>
          <a:xfrm>
            <a:off x="9235440" y="4041648"/>
            <a:ext cx="2221992" cy="201168"/>
          </a:xfrm>
          <a:prstGeom prst="rect">
            <a:avLst/>
          </a:prstGeom>
          <a:noFill/>
        </p:spPr>
        <p:txBody>
          <a:bodyPr wrap="square" lIns="18288" rIns="18288" tIns="18288" bIns="18288" anchor="t">
            <a:spAutoFit/>
          </a:bodyPr>
          <a:lstStyle/>
          <a:p>
            <a:pPr algn="l">
              <a:spcAft>
                <a:spcPts val="0"/>
              </a:spcAft>
            </a:pPr>
            <a:r>
              <a:rPr sz="1120" b="1" i="0">
                <a:solidFill>
                  <a:srgbClr val="F3F1D5"/>
                </a:solidFill>
                <a:latin typeface="Aptos"/>
              </a:rPr>
              <a:t>Ecosystem + Eco Coach</a:t>
            </a:r>
          </a:p>
        </p:txBody>
      </p:sp>
      <p:sp>
        <p:nvSpPr>
          <p:cNvPr id="39" name="TextBox 38"/>
          <p:cNvSpPr txBox="1"/>
          <p:nvPr/>
        </p:nvSpPr>
        <p:spPr>
          <a:xfrm>
            <a:off x="9235440" y="4279392"/>
            <a:ext cx="2267712" cy="310896"/>
          </a:xfrm>
          <a:prstGeom prst="rect">
            <a:avLst/>
          </a:prstGeom>
          <a:noFill/>
        </p:spPr>
        <p:txBody>
          <a:bodyPr wrap="square" lIns="18288" rIns="18288" tIns="18288" bIns="18288" anchor="t">
            <a:spAutoFit/>
          </a:bodyPr>
          <a:lstStyle/>
          <a:p>
            <a:pPr algn="l">
              <a:spcAft>
                <a:spcPts val="0"/>
              </a:spcAft>
            </a:pPr>
            <a:r>
              <a:rPr sz="880" b="0" i="0">
                <a:solidFill>
                  <a:srgbClr val="B6C9BB"/>
                </a:solidFill>
                <a:latin typeface="Aptos"/>
              </a:rPr>
              <a:t>Six indicators, overall score, weakest trend, major pressure and best support.</a:t>
            </a:r>
          </a:p>
        </p:txBody>
      </p:sp>
      <p:sp>
        <p:nvSpPr>
          <p:cNvPr id="40" name="Rounded Rectangle 39"/>
          <p:cNvSpPr/>
          <p:nvPr/>
        </p:nvSpPr>
        <p:spPr>
          <a:xfrm>
            <a:off x="8677656" y="4782312"/>
            <a:ext cx="3035808" cy="749808"/>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833104" y="4965192"/>
            <a:ext cx="301752" cy="301752"/>
          </a:xfrm>
          <a:prstGeom prst="ellipse">
            <a:avLst/>
          </a:prstGeom>
          <a:solidFill>
            <a:srgbClr val="A7E87D"/>
          </a:solidFill>
          <a:ln w="15240">
            <a:solidFill>
              <a:srgbClr val="071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33104" y="4978908"/>
            <a:ext cx="301752" cy="219456"/>
          </a:xfrm>
          <a:prstGeom prst="rect">
            <a:avLst/>
          </a:prstGeom>
          <a:noFill/>
        </p:spPr>
        <p:txBody>
          <a:bodyPr wrap="square" lIns="18288" rIns="18288" tIns="18288" bIns="18288" anchor="ctr">
            <a:spAutoFit/>
          </a:bodyPr>
          <a:lstStyle/>
          <a:p>
            <a:pPr algn="ctr">
              <a:spcAft>
                <a:spcPts val="0"/>
              </a:spcAft>
            </a:pPr>
            <a:r>
              <a:rPr sz="1019" b="1" i="0">
                <a:solidFill>
                  <a:srgbClr val="071F18"/>
                </a:solidFill>
                <a:latin typeface="Aptos"/>
              </a:rPr>
              <a:t>5</a:t>
            </a:r>
          </a:p>
        </p:txBody>
      </p:sp>
      <p:sp>
        <p:nvSpPr>
          <p:cNvPr id="43" name="TextBox 42"/>
          <p:cNvSpPr txBox="1"/>
          <p:nvPr/>
        </p:nvSpPr>
        <p:spPr>
          <a:xfrm>
            <a:off x="9235440" y="4901184"/>
            <a:ext cx="2221992" cy="201168"/>
          </a:xfrm>
          <a:prstGeom prst="rect">
            <a:avLst/>
          </a:prstGeom>
          <a:noFill/>
        </p:spPr>
        <p:txBody>
          <a:bodyPr wrap="square" lIns="18288" rIns="18288" tIns="18288" bIns="18288" anchor="t">
            <a:spAutoFit/>
          </a:bodyPr>
          <a:lstStyle/>
          <a:p>
            <a:pPr algn="l">
              <a:spcAft>
                <a:spcPts val="0"/>
              </a:spcAft>
            </a:pPr>
            <a:r>
              <a:rPr sz="1120" b="1" i="0">
                <a:solidFill>
                  <a:srgbClr val="F3F1D5"/>
                </a:solidFill>
                <a:latin typeface="Aptos"/>
              </a:rPr>
              <a:t>Workforce + footprint</a:t>
            </a:r>
          </a:p>
        </p:txBody>
      </p:sp>
      <p:sp>
        <p:nvSpPr>
          <p:cNvPr id="44" name="TextBox 43"/>
          <p:cNvSpPr txBox="1"/>
          <p:nvPr/>
        </p:nvSpPr>
        <p:spPr>
          <a:xfrm>
            <a:off x="9235440" y="5138928"/>
            <a:ext cx="2267712" cy="310896"/>
          </a:xfrm>
          <a:prstGeom prst="rect">
            <a:avLst/>
          </a:prstGeom>
          <a:noFill/>
        </p:spPr>
        <p:txBody>
          <a:bodyPr wrap="square" lIns="18288" rIns="18288" tIns="18288" bIns="18288" anchor="t">
            <a:spAutoFit/>
          </a:bodyPr>
          <a:lstStyle/>
          <a:p>
            <a:pPr algn="l">
              <a:spcAft>
                <a:spcPts val="0"/>
              </a:spcAft>
            </a:pPr>
            <a:r>
              <a:rPr sz="880" b="0" i="0">
                <a:solidFill>
                  <a:srgbClr val="B6C9BB"/>
                </a:solidFill>
                <a:latin typeface="Aptos"/>
              </a:rPr>
              <a:t>Jobs, available workers, children, schooling, health, morale and settlement pressure.</a:t>
            </a:r>
          </a:p>
        </p:txBody>
      </p:sp>
      <p:sp>
        <p:nvSpPr>
          <p:cNvPr id="45" name="Rounded Rectangle 44"/>
          <p:cNvSpPr/>
          <p:nvPr/>
        </p:nvSpPr>
        <p:spPr>
          <a:xfrm>
            <a:off x="8677656" y="5623560"/>
            <a:ext cx="3035808" cy="502920"/>
          </a:xfrm>
          <a:prstGeom prst="roundRect">
            <a:avLst/>
          </a:prstGeom>
          <a:solidFill>
            <a:srgbClr val="0A281F"/>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23960" y="5742432"/>
            <a:ext cx="2724912" cy="128016"/>
          </a:xfrm>
          <a:prstGeom prst="rect">
            <a:avLst/>
          </a:prstGeom>
          <a:noFill/>
        </p:spPr>
        <p:txBody>
          <a:bodyPr wrap="square" lIns="18288" rIns="18288" tIns="18288" bIns="18288" anchor="t">
            <a:spAutoFit/>
          </a:bodyPr>
          <a:lstStyle/>
          <a:p>
            <a:pPr algn="ctr">
              <a:spcAft>
                <a:spcPts val="0"/>
              </a:spcAft>
            </a:pPr>
            <a:r>
              <a:rPr sz="780" b="1" i="0">
                <a:solidFill>
                  <a:srgbClr val="A7E87D"/>
                </a:solidFill>
                <a:latin typeface="Aptos"/>
              </a:rPr>
              <a:t>DRAG pan  ·  SCROLL zoom  ·  O/P rotate</a:t>
            </a:r>
          </a:p>
        </p:txBody>
      </p:sp>
      <p:sp>
        <p:nvSpPr>
          <p:cNvPr id="47" name="TextBox 46"/>
          <p:cNvSpPr txBox="1"/>
          <p:nvPr/>
        </p:nvSpPr>
        <p:spPr>
          <a:xfrm>
            <a:off x="8823960" y="5916168"/>
            <a:ext cx="2724912" cy="109728"/>
          </a:xfrm>
          <a:prstGeom prst="rect">
            <a:avLst/>
          </a:prstGeom>
          <a:noFill/>
        </p:spPr>
        <p:txBody>
          <a:bodyPr wrap="square" lIns="18288" rIns="18288" tIns="18288" bIns="18288" anchor="t">
            <a:spAutoFit/>
          </a:bodyPr>
          <a:lstStyle/>
          <a:p>
            <a:pPr algn="ctr">
              <a:spcAft>
                <a:spcPts val="0"/>
              </a:spcAft>
            </a:pPr>
            <a:r>
              <a:rPr sz="720" b="0" i="0">
                <a:solidFill>
                  <a:srgbClr val="B6C9BB"/>
                </a:solidFill>
                <a:latin typeface="Aptos"/>
              </a:rPr>
              <a:t>SPACE pause  ·  ESC cancel  ·  HOLD tree priority</a:t>
            </a:r>
          </a:p>
        </p:txBody>
      </p:sp>
      <p:sp>
        <p:nvSpPr>
          <p:cNvPr id="48" name="Rectangle 47"/>
          <p:cNvSpPr/>
          <p:nvPr/>
        </p:nvSpPr>
        <p:spPr>
          <a:xfrm>
            <a:off x="475488" y="6556248"/>
            <a:ext cx="11237976" cy="10972"/>
          </a:xfrm>
          <a:prstGeom prst="rect">
            <a:avLst/>
          </a:prstGeom>
          <a:solidFill>
            <a:srgbClr val="2B5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75488" y="6592824"/>
            <a:ext cx="6583680" cy="164592"/>
          </a:xfrm>
          <a:prstGeom prst="rect">
            <a:avLst/>
          </a:prstGeom>
          <a:noFill/>
        </p:spPr>
        <p:txBody>
          <a:bodyPr wrap="square" lIns="18288" rIns="18288" tIns="18288" bIns="18288" anchor="t">
            <a:spAutoFit/>
          </a:bodyPr>
          <a:lstStyle/>
          <a:p>
            <a:pPr algn="l">
              <a:spcAft>
                <a:spcPts val="0"/>
              </a:spcAft>
            </a:pPr>
            <a:r>
              <a:rPr sz="750" b="1" i="0">
                <a:solidFill>
                  <a:srgbClr val="7F9B89"/>
                </a:solidFill>
                <a:latin typeface="Aptos"/>
              </a:rPr>
              <a:t>WILDROOT VILLAGE · ECOSYSTEM VILLAGE PROJECT</a:t>
            </a:r>
          </a:p>
        </p:txBody>
      </p:sp>
      <p:sp>
        <p:nvSpPr>
          <p:cNvPr id="50" name="TextBox 49"/>
          <p:cNvSpPr txBox="1"/>
          <p:nvPr/>
        </p:nvSpPr>
        <p:spPr>
          <a:xfrm>
            <a:off x="11384280" y="6574536"/>
            <a:ext cx="320040" cy="164592"/>
          </a:xfrm>
          <a:prstGeom prst="rect">
            <a:avLst/>
          </a:prstGeom>
          <a:noFill/>
        </p:spPr>
        <p:txBody>
          <a:bodyPr wrap="square" lIns="18288" rIns="18288" tIns="18288" bIns="18288" anchor="t">
            <a:spAutoFit/>
          </a:bodyPr>
          <a:lstStyle/>
          <a:p>
            <a:pPr algn="r">
              <a:spcAft>
                <a:spcPts val="0"/>
              </a:spcAft>
            </a:pPr>
            <a:r>
              <a:rPr sz="850" b="1" i="0">
                <a:solidFill>
                  <a:srgbClr val="7F9B89"/>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F18"/>
        </a:solidFill>
        <a:effectLst/>
      </p:bgPr>
    </p:bg>
    <p:spTree>
      <p:nvGrpSpPr>
        <p:cNvPr id="1" name=""/>
        <p:cNvGrpSpPr/>
        <p:nvPr/>
      </p:nvGrpSpPr>
      <p:grpSpPr/>
      <p:sp>
        <p:nvSpPr>
          <p:cNvPr id="2" name="TextBox 1"/>
          <p:cNvSpPr txBox="1"/>
          <p:nvPr/>
        </p:nvSpPr>
        <p:spPr>
          <a:xfrm>
            <a:off x="475488" y="256032"/>
            <a:ext cx="530352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ECOSYSTEM SIMULATION</a:t>
            </a:r>
          </a:p>
        </p:txBody>
      </p:sp>
      <p:sp>
        <p:nvSpPr>
          <p:cNvPr id="3" name="TextBox 2"/>
          <p:cNvSpPr txBox="1"/>
          <p:nvPr/>
        </p:nvSpPr>
        <p:spPr>
          <a:xfrm>
            <a:off x="475488" y="493776"/>
            <a:ext cx="10698480" cy="475488"/>
          </a:xfrm>
          <a:prstGeom prst="rect">
            <a:avLst/>
          </a:prstGeom>
          <a:noFill/>
        </p:spPr>
        <p:txBody>
          <a:bodyPr wrap="square" lIns="18288" rIns="18288" tIns="18288" bIns="18288" anchor="t">
            <a:spAutoFit/>
          </a:bodyPr>
          <a:lstStyle/>
          <a:p>
            <a:pPr algn="l">
              <a:spcAft>
                <a:spcPts val="0"/>
              </a:spcAft>
            </a:pPr>
            <a:r>
              <a:rPr sz="2800" b="1" i="0">
                <a:solidFill>
                  <a:srgbClr val="F3F1D5"/>
                </a:solidFill>
                <a:latin typeface="Georgia"/>
              </a:rPr>
              <a:t>A living model, not a single score</a:t>
            </a:r>
          </a:p>
        </p:txBody>
      </p:sp>
      <p:sp>
        <p:nvSpPr>
          <p:cNvPr id="4" name="TextBox 3"/>
          <p:cNvSpPr txBox="1"/>
          <p:nvPr/>
        </p:nvSpPr>
        <p:spPr>
          <a:xfrm>
            <a:off x="493776" y="932688"/>
            <a:ext cx="10607040" cy="292608"/>
          </a:xfrm>
          <a:prstGeom prst="rect">
            <a:avLst/>
          </a:prstGeom>
          <a:noFill/>
        </p:spPr>
        <p:txBody>
          <a:bodyPr wrap="square" lIns="18288" rIns="18288" tIns="18288" bIns="18288" anchor="t">
            <a:spAutoFit/>
          </a:bodyPr>
          <a:lstStyle/>
          <a:p>
            <a:pPr algn="l">
              <a:spcAft>
                <a:spcPts val="0"/>
              </a:spcAft>
            </a:pPr>
            <a:r>
              <a:rPr sz="1120" b="0" i="0">
                <a:solidFill>
                  <a:srgbClr val="B6C9BB"/>
                </a:solidFill>
                <a:latin typeface="Aptos"/>
              </a:rPr>
              <a:t>Six connected indicators reveal weak links that an average could otherwise hide.</a:t>
            </a:r>
          </a:p>
        </p:txBody>
      </p:sp>
      <p:sp>
        <p:nvSpPr>
          <p:cNvPr id="5" name="TextBox 4"/>
          <p:cNvSpPr txBox="1"/>
          <p:nvPr/>
        </p:nvSpPr>
        <p:spPr>
          <a:xfrm>
            <a:off x="11265408" y="338328"/>
            <a:ext cx="438912" cy="274320"/>
          </a:xfrm>
          <a:prstGeom prst="rect">
            <a:avLst/>
          </a:prstGeom>
          <a:noFill/>
        </p:spPr>
        <p:txBody>
          <a:bodyPr wrap="square" lIns="18288" rIns="18288" tIns="18288" bIns="18288" anchor="t">
            <a:spAutoFit/>
          </a:bodyPr>
          <a:lstStyle/>
          <a:p>
            <a:pPr algn="r">
              <a:spcAft>
                <a:spcPts val="0"/>
              </a:spcAft>
            </a:pPr>
            <a:r>
              <a:rPr sz="1000" b="1" i="0">
                <a:solidFill>
                  <a:srgbClr val="A7E87D"/>
                </a:solidFill>
                <a:latin typeface="Aptos"/>
              </a:rPr>
              <a:t>05</a:t>
            </a:r>
          </a:p>
        </p:txBody>
      </p:sp>
      <p:sp>
        <p:nvSpPr>
          <p:cNvPr id="6" name="Rectangle 5"/>
          <p:cNvSpPr/>
          <p:nvPr/>
        </p:nvSpPr>
        <p:spPr>
          <a:xfrm>
            <a:off x="11804904" y="274320"/>
            <a:ext cx="27432" cy="502920"/>
          </a:xfrm>
          <a:prstGeom prst="rect">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84048" y="1271016"/>
            <a:ext cx="6437376" cy="3703320"/>
          </a:xfrm>
          <a:prstGeom prst="roundRect">
            <a:avLst/>
          </a:prstGeom>
          <a:solidFill>
            <a:srgbClr val="061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eld-guide.png"/>
          <p:cNvPicPr>
            <a:picLocks noChangeAspect="1"/>
          </p:cNvPicPr>
          <p:nvPr/>
        </p:nvPicPr>
        <p:blipFill>
          <a:blip r:embed="rId2"/>
          <a:srcRect l="145" r="145"/>
          <a:stretch>
            <a:fillRect/>
          </a:stretch>
        </p:blipFill>
        <p:spPr>
          <a:xfrm>
            <a:off x="466344" y="1353312"/>
            <a:ext cx="6272784" cy="3538728"/>
          </a:xfrm>
          <a:prstGeom prst="rect">
            <a:avLst/>
          </a:prstGeom>
        </p:spPr>
      </p:pic>
      <p:sp>
        <p:nvSpPr>
          <p:cNvPr id="9" name="Rectangle 8"/>
          <p:cNvSpPr/>
          <p:nvPr/>
        </p:nvSpPr>
        <p:spPr>
          <a:xfrm>
            <a:off x="466344" y="1353312"/>
            <a:ext cx="6272784" cy="3538728"/>
          </a:xfrm>
          <a:prstGeom prst="rect">
            <a:avLst/>
          </a:prstGeom>
          <a:noFill/>
          <a:ln w="1651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7512" y="4480560"/>
            <a:ext cx="2011680" cy="265176"/>
          </a:xfrm>
          <a:prstGeom prst="roundRect">
            <a:avLst/>
          </a:prstGeom>
          <a:solidFill>
            <a:srgbClr val="0A281F"/>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4544568"/>
            <a:ext cx="2011680" cy="100584"/>
          </a:xfrm>
          <a:prstGeom prst="rect">
            <a:avLst/>
          </a:prstGeom>
          <a:noFill/>
        </p:spPr>
        <p:txBody>
          <a:bodyPr wrap="square" lIns="18288" rIns="18288" tIns="18288" bIns="18288" anchor="t">
            <a:spAutoFit/>
          </a:bodyPr>
          <a:lstStyle/>
          <a:p>
            <a:pPr algn="ctr">
              <a:spcAft>
                <a:spcPts val="0"/>
              </a:spcAft>
            </a:pPr>
            <a:r>
              <a:rPr sz="720" b="1" i="0">
                <a:solidFill>
                  <a:srgbClr val="A7E87D"/>
                </a:solidFill>
                <a:latin typeface="Aptos"/>
              </a:rPr>
              <a:t>LIVE 24-HOUR FIELD GUIDE</a:t>
            </a:r>
          </a:p>
        </p:txBody>
      </p:sp>
      <p:sp>
        <p:nvSpPr>
          <p:cNvPr id="12" name="TextBox 11"/>
          <p:cNvSpPr txBox="1"/>
          <p:nvPr/>
        </p:nvSpPr>
        <p:spPr>
          <a:xfrm>
            <a:off x="7059168" y="1298448"/>
            <a:ext cx="246888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THE SIX INDICATORS</a:t>
            </a:r>
          </a:p>
        </p:txBody>
      </p:sp>
      <p:sp>
        <p:nvSpPr>
          <p:cNvPr id="13" name="Rounded Rectangle 12"/>
          <p:cNvSpPr/>
          <p:nvPr/>
        </p:nvSpPr>
        <p:spPr>
          <a:xfrm>
            <a:off x="7059168" y="1618488"/>
            <a:ext cx="2176272" cy="804672"/>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78040" y="1746504"/>
            <a:ext cx="210312" cy="210312"/>
          </a:xfrm>
          <a:prstGeom prst="ellipse">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79792" y="1709928"/>
            <a:ext cx="1307592" cy="182880"/>
          </a:xfrm>
          <a:prstGeom prst="rect">
            <a:avLst/>
          </a:prstGeom>
          <a:noFill/>
        </p:spPr>
        <p:txBody>
          <a:bodyPr wrap="square" lIns="18288" rIns="18288" tIns="18288" bIns="18288" anchor="t">
            <a:spAutoFit/>
          </a:bodyPr>
          <a:lstStyle/>
          <a:p>
            <a:pPr algn="l">
              <a:spcAft>
                <a:spcPts val="0"/>
              </a:spcAft>
            </a:pPr>
            <a:r>
              <a:rPr sz="1060" b="1" i="0">
                <a:solidFill>
                  <a:srgbClr val="F3F1D5"/>
                </a:solidFill>
                <a:latin typeface="Aptos"/>
              </a:rPr>
              <a:t>Forest cover</a:t>
            </a:r>
          </a:p>
        </p:txBody>
      </p:sp>
      <p:sp>
        <p:nvSpPr>
          <p:cNvPr id="16" name="TextBox 15"/>
          <p:cNvSpPr txBox="1"/>
          <p:nvPr/>
        </p:nvSpPr>
        <p:spPr>
          <a:xfrm>
            <a:off x="8796528" y="1709928"/>
            <a:ext cx="283464" cy="164592"/>
          </a:xfrm>
          <a:prstGeom prst="rect">
            <a:avLst/>
          </a:prstGeom>
          <a:noFill/>
        </p:spPr>
        <p:txBody>
          <a:bodyPr wrap="square" lIns="18288" rIns="18288" tIns="18288" bIns="18288" anchor="t">
            <a:spAutoFit/>
          </a:bodyPr>
          <a:lstStyle/>
          <a:p>
            <a:pPr algn="r">
              <a:spcAft>
                <a:spcPts val="0"/>
              </a:spcAft>
            </a:pPr>
            <a:r>
              <a:rPr sz="1030" b="1" i="0">
                <a:solidFill>
                  <a:srgbClr val="A7E87D"/>
                </a:solidFill>
                <a:latin typeface="Aptos"/>
              </a:rPr>
              <a:t>76</a:t>
            </a:r>
          </a:p>
        </p:txBody>
      </p:sp>
      <p:sp>
        <p:nvSpPr>
          <p:cNvPr id="17" name="TextBox 16"/>
          <p:cNvSpPr txBox="1"/>
          <p:nvPr/>
        </p:nvSpPr>
        <p:spPr>
          <a:xfrm>
            <a:off x="7205472" y="1984248"/>
            <a:ext cx="1883664" cy="283464"/>
          </a:xfrm>
          <a:prstGeom prst="rect">
            <a:avLst/>
          </a:prstGeom>
          <a:noFill/>
        </p:spPr>
        <p:txBody>
          <a:bodyPr wrap="square" lIns="18288" rIns="18288" tIns="18288" bIns="18288" anchor="t">
            <a:spAutoFit/>
          </a:bodyPr>
          <a:lstStyle/>
          <a:p>
            <a:pPr algn="l">
              <a:spcAft>
                <a:spcPts val="0"/>
              </a:spcAft>
            </a:pPr>
            <a:r>
              <a:rPr sz="819" b="0" i="0">
                <a:solidFill>
                  <a:srgbClr val="B6C9BB"/>
                </a:solidFill>
                <a:latin typeface="Aptos"/>
              </a:rPr>
              <a:t>Habitat, carbon and recovery capacity</a:t>
            </a:r>
          </a:p>
        </p:txBody>
      </p:sp>
      <p:sp>
        <p:nvSpPr>
          <p:cNvPr id="18" name="Rounded Rectangle 17"/>
          <p:cNvSpPr/>
          <p:nvPr/>
        </p:nvSpPr>
        <p:spPr>
          <a:xfrm>
            <a:off x="9400032" y="1618488"/>
            <a:ext cx="2176272" cy="804672"/>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18904" y="1746504"/>
            <a:ext cx="210312" cy="210312"/>
          </a:xfrm>
          <a:prstGeom prst="ellipse">
            <a:avLst/>
          </a:prstGeom>
          <a:solidFill>
            <a:srgbClr val="E4C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0656" y="1709928"/>
            <a:ext cx="1307592" cy="182880"/>
          </a:xfrm>
          <a:prstGeom prst="rect">
            <a:avLst/>
          </a:prstGeom>
          <a:noFill/>
        </p:spPr>
        <p:txBody>
          <a:bodyPr wrap="square" lIns="18288" rIns="18288" tIns="18288" bIns="18288" anchor="t">
            <a:spAutoFit/>
          </a:bodyPr>
          <a:lstStyle/>
          <a:p>
            <a:pPr algn="l">
              <a:spcAft>
                <a:spcPts val="0"/>
              </a:spcAft>
            </a:pPr>
            <a:r>
              <a:rPr sz="1060" b="1" i="0">
                <a:solidFill>
                  <a:srgbClr val="F3F1D5"/>
                </a:solidFill>
                <a:latin typeface="Aptos"/>
              </a:rPr>
              <a:t>Wildlife</a:t>
            </a:r>
          </a:p>
        </p:txBody>
      </p:sp>
      <p:sp>
        <p:nvSpPr>
          <p:cNvPr id="21" name="TextBox 20"/>
          <p:cNvSpPr txBox="1"/>
          <p:nvPr/>
        </p:nvSpPr>
        <p:spPr>
          <a:xfrm>
            <a:off x="11137392" y="1709928"/>
            <a:ext cx="283464" cy="164592"/>
          </a:xfrm>
          <a:prstGeom prst="rect">
            <a:avLst/>
          </a:prstGeom>
          <a:noFill/>
        </p:spPr>
        <p:txBody>
          <a:bodyPr wrap="square" lIns="18288" rIns="18288" tIns="18288" bIns="18288" anchor="t">
            <a:spAutoFit/>
          </a:bodyPr>
          <a:lstStyle/>
          <a:p>
            <a:pPr algn="r">
              <a:spcAft>
                <a:spcPts val="0"/>
              </a:spcAft>
            </a:pPr>
            <a:r>
              <a:rPr sz="1030" b="1" i="0">
                <a:solidFill>
                  <a:srgbClr val="E4C967"/>
                </a:solidFill>
                <a:latin typeface="Aptos"/>
              </a:rPr>
              <a:t>71</a:t>
            </a:r>
          </a:p>
        </p:txBody>
      </p:sp>
      <p:sp>
        <p:nvSpPr>
          <p:cNvPr id="22" name="TextBox 21"/>
          <p:cNvSpPr txBox="1"/>
          <p:nvPr/>
        </p:nvSpPr>
        <p:spPr>
          <a:xfrm>
            <a:off x="9546336" y="1984248"/>
            <a:ext cx="1883664" cy="283464"/>
          </a:xfrm>
          <a:prstGeom prst="rect">
            <a:avLst/>
          </a:prstGeom>
          <a:noFill/>
        </p:spPr>
        <p:txBody>
          <a:bodyPr wrap="square" lIns="18288" rIns="18288" tIns="18288" bIns="18288" anchor="t">
            <a:spAutoFit/>
          </a:bodyPr>
          <a:lstStyle/>
          <a:p>
            <a:pPr algn="l">
              <a:spcAft>
                <a:spcPts val="0"/>
              </a:spcAft>
            </a:pPr>
            <a:r>
              <a:rPr sz="819" b="0" i="0">
                <a:solidFill>
                  <a:srgbClr val="B6C9BB"/>
                </a:solidFill>
                <a:latin typeface="Aptos"/>
              </a:rPr>
              <a:t>Abundance and security of animal populations</a:t>
            </a:r>
          </a:p>
        </p:txBody>
      </p:sp>
      <p:sp>
        <p:nvSpPr>
          <p:cNvPr id="23" name="Rounded Rectangle 22"/>
          <p:cNvSpPr/>
          <p:nvPr/>
        </p:nvSpPr>
        <p:spPr>
          <a:xfrm>
            <a:off x="7059168" y="2551176"/>
            <a:ext cx="2176272" cy="804672"/>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78040" y="2679192"/>
            <a:ext cx="210312" cy="210312"/>
          </a:xfrm>
          <a:prstGeom prst="ellipse">
            <a:avLst/>
          </a:prstGeom>
          <a:solidFill>
            <a:srgbClr val="6FC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79792" y="2642616"/>
            <a:ext cx="1307592" cy="182880"/>
          </a:xfrm>
          <a:prstGeom prst="rect">
            <a:avLst/>
          </a:prstGeom>
          <a:noFill/>
        </p:spPr>
        <p:txBody>
          <a:bodyPr wrap="square" lIns="18288" rIns="18288" tIns="18288" bIns="18288" anchor="t">
            <a:spAutoFit/>
          </a:bodyPr>
          <a:lstStyle/>
          <a:p>
            <a:pPr algn="l">
              <a:spcAft>
                <a:spcPts val="0"/>
              </a:spcAft>
            </a:pPr>
            <a:r>
              <a:rPr sz="1060" b="1" i="0">
                <a:solidFill>
                  <a:srgbClr val="F3F1D5"/>
                </a:solidFill>
                <a:latin typeface="Aptos"/>
              </a:rPr>
              <a:t>Water quality</a:t>
            </a:r>
          </a:p>
        </p:txBody>
      </p:sp>
      <p:sp>
        <p:nvSpPr>
          <p:cNvPr id="26" name="TextBox 25"/>
          <p:cNvSpPr txBox="1"/>
          <p:nvPr/>
        </p:nvSpPr>
        <p:spPr>
          <a:xfrm>
            <a:off x="8796528" y="2642616"/>
            <a:ext cx="283464" cy="164592"/>
          </a:xfrm>
          <a:prstGeom prst="rect">
            <a:avLst/>
          </a:prstGeom>
          <a:noFill/>
        </p:spPr>
        <p:txBody>
          <a:bodyPr wrap="square" lIns="18288" rIns="18288" tIns="18288" bIns="18288" anchor="t">
            <a:spAutoFit/>
          </a:bodyPr>
          <a:lstStyle/>
          <a:p>
            <a:pPr algn="r">
              <a:spcAft>
                <a:spcPts val="0"/>
              </a:spcAft>
            </a:pPr>
            <a:r>
              <a:rPr sz="1030" b="1" i="0">
                <a:solidFill>
                  <a:srgbClr val="6FC3D5"/>
                </a:solidFill>
                <a:latin typeface="Aptos"/>
              </a:rPr>
              <a:t>67</a:t>
            </a:r>
          </a:p>
        </p:txBody>
      </p:sp>
      <p:sp>
        <p:nvSpPr>
          <p:cNvPr id="27" name="TextBox 26"/>
          <p:cNvSpPr txBox="1"/>
          <p:nvPr/>
        </p:nvSpPr>
        <p:spPr>
          <a:xfrm>
            <a:off x="7205472" y="2916936"/>
            <a:ext cx="1883664" cy="283464"/>
          </a:xfrm>
          <a:prstGeom prst="rect">
            <a:avLst/>
          </a:prstGeom>
          <a:noFill/>
        </p:spPr>
        <p:txBody>
          <a:bodyPr wrap="square" lIns="18288" rIns="18288" tIns="18288" bIns="18288" anchor="t">
            <a:spAutoFit/>
          </a:bodyPr>
          <a:lstStyle/>
          <a:p>
            <a:pPr algn="l">
              <a:spcAft>
                <a:spcPts val="0"/>
              </a:spcAft>
            </a:pPr>
            <a:r>
              <a:rPr sz="819" b="0" i="0">
                <a:solidFill>
                  <a:srgbClr val="B6C9BB"/>
                </a:solidFill>
                <a:latin typeface="Aptos"/>
              </a:rPr>
              <a:t>Cleanliness, supply and watershed health</a:t>
            </a:r>
          </a:p>
        </p:txBody>
      </p:sp>
      <p:sp>
        <p:nvSpPr>
          <p:cNvPr id="28" name="Rounded Rectangle 27"/>
          <p:cNvSpPr/>
          <p:nvPr/>
        </p:nvSpPr>
        <p:spPr>
          <a:xfrm>
            <a:off x="9400032" y="2551176"/>
            <a:ext cx="2176272" cy="804672"/>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518904" y="2679192"/>
            <a:ext cx="210312" cy="210312"/>
          </a:xfrm>
          <a:prstGeom prst="ellipse">
            <a:avLst/>
          </a:prstGeom>
          <a:solidFill>
            <a:srgbClr val="F47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20656" y="2642616"/>
            <a:ext cx="1307592" cy="182880"/>
          </a:xfrm>
          <a:prstGeom prst="rect">
            <a:avLst/>
          </a:prstGeom>
          <a:noFill/>
        </p:spPr>
        <p:txBody>
          <a:bodyPr wrap="square" lIns="18288" rIns="18288" tIns="18288" bIns="18288" anchor="t">
            <a:spAutoFit/>
          </a:bodyPr>
          <a:lstStyle/>
          <a:p>
            <a:pPr algn="l">
              <a:spcAft>
                <a:spcPts val="0"/>
              </a:spcAft>
            </a:pPr>
            <a:r>
              <a:rPr sz="1060" b="1" i="0">
                <a:solidFill>
                  <a:srgbClr val="F3F1D5"/>
                </a:solidFill>
                <a:latin typeface="Aptos"/>
              </a:rPr>
              <a:t>Soil health</a:t>
            </a:r>
          </a:p>
        </p:txBody>
      </p:sp>
      <p:sp>
        <p:nvSpPr>
          <p:cNvPr id="31" name="TextBox 30"/>
          <p:cNvSpPr txBox="1"/>
          <p:nvPr/>
        </p:nvSpPr>
        <p:spPr>
          <a:xfrm>
            <a:off x="11137392" y="2642616"/>
            <a:ext cx="283464" cy="164592"/>
          </a:xfrm>
          <a:prstGeom prst="rect">
            <a:avLst/>
          </a:prstGeom>
          <a:noFill/>
        </p:spPr>
        <p:txBody>
          <a:bodyPr wrap="square" lIns="18288" rIns="18288" tIns="18288" bIns="18288" anchor="t">
            <a:spAutoFit/>
          </a:bodyPr>
          <a:lstStyle/>
          <a:p>
            <a:pPr algn="r">
              <a:spcAft>
                <a:spcPts val="0"/>
              </a:spcAft>
            </a:pPr>
            <a:r>
              <a:rPr sz="1030" b="1" i="0">
                <a:solidFill>
                  <a:srgbClr val="F47E70"/>
                </a:solidFill>
                <a:latin typeface="Aptos"/>
              </a:rPr>
              <a:t>65</a:t>
            </a:r>
          </a:p>
        </p:txBody>
      </p:sp>
      <p:sp>
        <p:nvSpPr>
          <p:cNvPr id="32" name="TextBox 31"/>
          <p:cNvSpPr txBox="1"/>
          <p:nvPr/>
        </p:nvSpPr>
        <p:spPr>
          <a:xfrm>
            <a:off x="9546336" y="2916936"/>
            <a:ext cx="1883664" cy="283464"/>
          </a:xfrm>
          <a:prstGeom prst="rect">
            <a:avLst/>
          </a:prstGeom>
          <a:noFill/>
        </p:spPr>
        <p:txBody>
          <a:bodyPr wrap="square" lIns="18288" rIns="18288" tIns="18288" bIns="18288" anchor="t">
            <a:spAutoFit/>
          </a:bodyPr>
          <a:lstStyle/>
          <a:p>
            <a:pPr algn="l">
              <a:spcAft>
                <a:spcPts val="0"/>
              </a:spcAft>
            </a:pPr>
            <a:r>
              <a:rPr sz="819" b="0" i="0">
                <a:solidFill>
                  <a:srgbClr val="B6C9BB"/>
                </a:solidFill>
                <a:latin typeface="Aptos"/>
              </a:rPr>
              <a:t>Fertility, soil life and structural stability</a:t>
            </a:r>
          </a:p>
        </p:txBody>
      </p:sp>
      <p:sp>
        <p:nvSpPr>
          <p:cNvPr id="33" name="Rounded Rectangle 32"/>
          <p:cNvSpPr/>
          <p:nvPr/>
        </p:nvSpPr>
        <p:spPr>
          <a:xfrm>
            <a:off x="7059168" y="3483864"/>
            <a:ext cx="2176272" cy="804672"/>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178040" y="3611880"/>
            <a:ext cx="210312" cy="210312"/>
          </a:xfrm>
          <a:prstGeom prst="ellipse">
            <a:avLst/>
          </a:prstGeom>
          <a:solidFill>
            <a:srgbClr val="C79A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79792" y="3575304"/>
            <a:ext cx="1307592" cy="182880"/>
          </a:xfrm>
          <a:prstGeom prst="rect">
            <a:avLst/>
          </a:prstGeom>
          <a:noFill/>
        </p:spPr>
        <p:txBody>
          <a:bodyPr wrap="square" lIns="18288" rIns="18288" tIns="18288" bIns="18288" anchor="t">
            <a:spAutoFit/>
          </a:bodyPr>
          <a:lstStyle/>
          <a:p>
            <a:pPr algn="l">
              <a:spcAft>
                <a:spcPts val="0"/>
              </a:spcAft>
            </a:pPr>
            <a:r>
              <a:rPr sz="1060" b="1" i="0">
                <a:solidFill>
                  <a:srgbClr val="F3F1D5"/>
                </a:solidFill>
                <a:latin typeface="Aptos"/>
              </a:rPr>
              <a:t>Clean air</a:t>
            </a:r>
          </a:p>
        </p:txBody>
      </p:sp>
      <p:sp>
        <p:nvSpPr>
          <p:cNvPr id="36" name="TextBox 35"/>
          <p:cNvSpPr txBox="1"/>
          <p:nvPr/>
        </p:nvSpPr>
        <p:spPr>
          <a:xfrm>
            <a:off x="8796528" y="3575304"/>
            <a:ext cx="283464" cy="164592"/>
          </a:xfrm>
          <a:prstGeom prst="rect">
            <a:avLst/>
          </a:prstGeom>
          <a:noFill/>
        </p:spPr>
        <p:txBody>
          <a:bodyPr wrap="square" lIns="18288" rIns="18288" tIns="18288" bIns="18288" anchor="t">
            <a:spAutoFit/>
          </a:bodyPr>
          <a:lstStyle/>
          <a:p>
            <a:pPr algn="r">
              <a:spcAft>
                <a:spcPts val="0"/>
              </a:spcAft>
            </a:pPr>
            <a:r>
              <a:rPr sz="1030" b="1" i="0">
                <a:solidFill>
                  <a:srgbClr val="C79AEC"/>
                </a:solidFill>
                <a:latin typeface="Aptos"/>
              </a:rPr>
              <a:t>72</a:t>
            </a:r>
          </a:p>
        </p:txBody>
      </p:sp>
      <p:sp>
        <p:nvSpPr>
          <p:cNvPr id="37" name="TextBox 36"/>
          <p:cNvSpPr txBox="1"/>
          <p:nvPr/>
        </p:nvSpPr>
        <p:spPr>
          <a:xfrm>
            <a:off x="7205472" y="3849624"/>
            <a:ext cx="1883664" cy="283464"/>
          </a:xfrm>
          <a:prstGeom prst="rect">
            <a:avLst/>
          </a:prstGeom>
          <a:noFill/>
        </p:spPr>
        <p:txBody>
          <a:bodyPr wrap="square" lIns="18288" rIns="18288" tIns="18288" bIns="18288" anchor="t">
            <a:spAutoFit/>
          </a:bodyPr>
          <a:lstStyle/>
          <a:p>
            <a:pPr algn="l">
              <a:spcAft>
                <a:spcPts val="0"/>
              </a:spcAft>
            </a:pPr>
            <a:r>
              <a:rPr sz="819" b="0" i="0">
                <a:solidFill>
                  <a:srgbClr val="B6C9BB"/>
                </a:solidFill>
                <a:latin typeface="Aptos"/>
              </a:rPr>
              <a:t>Smoke, dust and atmospheric capacity</a:t>
            </a:r>
          </a:p>
        </p:txBody>
      </p:sp>
      <p:sp>
        <p:nvSpPr>
          <p:cNvPr id="38" name="Rounded Rectangle 37"/>
          <p:cNvSpPr/>
          <p:nvPr/>
        </p:nvSpPr>
        <p:spPr>
          <a:xfrm>
            <a:off x="9400032" y="3483864"/>
            <a:ext cx="2176272" cy="804672"/>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518904" y="3611880"/>
            <a:ext cx="210312" cy="210312"/>
          </a:xfrm>
          <a:prstGeom prst="ellipse">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20656" y="3575304"/>
            <a:ext cx="1307592" cy="182880"/>
          </a:xfrm>
          <a:prstGeom prst="rect">
            <a:avLst/>
          </a:prstGeom>
          <a:noFill/>
        </p:spPr>
        <p:txBody>
          <a:bodyPr wrap="square" lIns="18288" rIns="18288" tIns="18288" bIns="18288" anchor="t">
            <a:spAutoFit/>
          </a:bodyPr>
          <a:lstStyle/>
          <a:p>
            <a:pPr algn="l">
              <a:spcAft>
                <a:spcPts val="0"/>
              </a:spcAft>
            </a:pPr>
            <a:r>
              <a:rPr sz="1060" b="1" i="0">
                <a:solidFill>
                  <a:srgbClr val="F3F1D5"/>
                </a:solidFill>
                <a:latin typeface="Aptos"/>
              </a:rPr>
              <a:t>Biodiversity</a:t>
            </a:r>
          </a:p>
        </p:txBody>
      </p:sp>
      <p:sp>
        <p:nvSpPr>
          <p:cNvPr id="41" name="TextBox 40"/>
          <p:cNvSpPr txBox="1"/>
          <p:nvPr/>
        </p:nvSpPr>
        <p:spPr>
          <a:xfrm>
            <a:off x="11137392" y="3575304"/>
            <a:ext cx="283464" cy="164592"/>
          </a:xfrm>
          <a:prstGeom prst="rect">
            <a:avLst/>
          </a:prstGeom>
          <a:noFill/>
        </p:spPr>
        <p:txBody>
          <a:bodyPr wrap="square" lIns="18288" rIns="18288" tIns="18288" bIns="18288" anchor="t">
            <a:spAutoFit/>
          </a:bodyPr>
          <a:lstStyle/>
          <a:p>
            <a:pPr algn="r">
              <a:spcAft>
                <a:spcPts val="0"/>
              </a:spcAft>
            </a:pPr>
            <a:r>
              <a:rPr sz="1030" b="1" i="0">
                <a:solidFill>
                  <a:srgbClr val="A7E87D"/>
                </a:solidFill>
                <a:latin typeface="Aptos"/>
              </a:rPr>
              <a:t>70</a:t>
            </a:r>
          </a:p>
        </p:txBody>
      </p:sp>
      <p:sp>
        <p:nvSpPr>
          <p:cNvPr id="42" name="TextBox 41"/>
          <p:cNvSpPr txBox="1"/>
          <p:nvPr/>
        </p:nvSpPr>
        <p:spPr>
          <a:xfrm>
            <a:off x="9546336" y="3849624"/>
            <a:ext cx="1883664" cy="283464"/>
          </a:xfrm>
          <a:prstGeom prst="rect">
            <a:avLst/>
          </a:prstGeom>
          <a:noFill/>
        </p:spPr>
        <p:txBody>
          <a:bodyPr wrap="square" lIns="18288" rIns="18288" tIns="18288" bIns="18288" anchor="t">
            <a:spAutoFit/>
          </a:bodyPr>
          <a:lstStyle/>
          <a:p>
            <a:pPr algn="l">
              <a:spcAft>
                <a:spcPts val="0"/>
              </a:spcAft>
            </a:pPr>
            <a:r>
              <a:rPr sz="819" b="0" i="0">
                <a:solidFill>
                  <a:srgbClr val="B6C9BB"/>
                </a:solidFill>
                <a:latin typeface="Aptos"/>
              </a:rPr>
              <a:t>Species, habitats and ecological relationships</a:t>
            </a:r>
          </a:p>
        </p:txBody>
      </p:sp>
      <p:sp>
        <p:nvSpPr>
          <p:cNvPr id="43" name="Rounded Rectangle 42"/>
          <p:cNvSpPr/>
          <p:nvPr/>
        </p:nvSpPr>
        <p:spPr>
          <a:xfrm>
            <a:off x="475488" y="5212080"/>
            <a:ext cx="11237976" cy="1014984"/>
          </a:xfrm>
          <a:prstGeom prst="roundRect">
            <a:avLst/>
          </a:prstGeom>
          <a:solidFill>
            <a:srgbClr val="0A281F"/>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7512" y="5358384"/>
            <a:ext cx="150876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CAUSE AND EFFECT</a:t>
            </a:r>
          </a:p>
        </p:txBody>
      </p:sp>
      <p:sp>
        <p:nvSpPr>
          <p:cNvPr id="45" name="TextBox 44"/>
          <p:cNvSpPr txBox="1"/>
          <p:nvPr/>
        </p:nvSpPr>
        <p:spPr>
          <a:xfrm>
            <a:off x="2011680" y="5340096"/>
            <a:ext cx="1965960" cy="164592"/>
          </a:xfrm>
          <a:prstGeom prst="rect">
            <a:avLst/>
          </a:prstGeom>
          <a:noFill/>
        </p:spPr>
        <p:txBody>
          <a:bodyPr wrap="square" lIns="18288" rIns="18288" tIns="18288" bIns="18288" anchor="t">
            <a:spAutoFit/>
          </a:bodyPr>
          <a:lstStyle/>
          <a:p>
            <a:pPr algn="l">
              <a:spcAft>
                <a:spcPts val="0"/>
              </a:spcAft>
            </a:pPr>
            <a:r>
              <a:rPr sz="840" b="1" i="0">
                <a:solidFill>
                  <a:srgbClr val="A7E87D"/>
                </a:solidFill>
                <a:latin typeface="Aptos"/>
              </a:rPr>
              <a:t>BUILDINGS + PEOPLE</a:t>
            </a:r>
          </a:p>
        </p:txBody>
      </p:sp>
      <p:sp>
        <p:nvSpPr>
          <p:cNvPr id="46" name="TextBox 45"/>
          <p:cNvSpPr txBox="1"/>
          <p:nvPr/>
        </p:nvSpPr>
        <p:spPr>
          <a:xfrm>
            <a:off x="2011680" y="5559552"/>
            <a:ext cx="2011680" cy="320040"/>
          </a:xfrm>
          <a:prstGeom prst="rect">
            <a:avLst/>
          </a:prstGeom>
          <a:noFill/>
        </p:spPr>
        <p:txBody>
          <a:bodyPr wrap="square" lIns="18288" rIns="18288" tIns="18288" bIns="18288" anchor="t">
            <a:spAutoFit/>
          </a:bodyPr>
          <a:lstStyle/>
          <a:p>
            <a:pPr algn="l">
              <a:spcAft>
                <a:spcPts val="0"/>
              </a:spcAft>
            </a:pPr>
            <a:r>
              <a:rPr sz="810" b="0" i="0">
                <a:solidFill>
                  <a:srgbClr val="B6C9BB"/>
                </a:solidFill>
                <a:latin typeface="Aptos"/>
              </a:rPr>
              <a:t>use resources; create output, noise and pollution</a:t>
            </a:r>
          </a:p>
        </p:txBody>
      </p:sp>
      <p:sp>
        <p:nvSpPr>
          <p:cNvPr id="47" name="TextBox 46"/>
          <p:cNvSpPr txBox="1"/>
          <p:nvPr/>
        </p:nvSpPr>
        <p:spPr>
          <a:xfrm>
            <a:off x="4005072" y="5532120"/>
            <a:ext cx="219456" cy="210312"/>
          </a:xfrm>
          <a:prstGeom prst="rect">
            <a:avLst/>
          </a:prstGeom>
          <a:noFill/>
        </p:spPr>
        <p:txBody>
          <a:bodyPr wrap="square" lIns="18288" rIns="18288" tIns="18288" bIns="18288" anchor="t">
            <a:spAutoFit/>
          </a:bodyPr>
          <a:lstStyle/>
          <a:p>
            <a:pPr algn="ctr">
              <a:spcAft>
                <a:spcPts val="0"/>
              </a:spcAft>
            </a:pPr>
            <a:r>
              <a:rPr sz="1500" b="1" i="0">
                <a:solidFill>
                  <a:srgbClr val="7F9B89"/>
                </a:solidFill>
                <a:latin typeface="Aptos"/>
              </a:rPr>
              <a:t>→</a:t>
            </a:r>
          </a:p>
        </p:txBody>
      </p:sp>
      <p:sp>
        <p:nvSpPr>
          <p:cNvPr id="48" name="TextBox 47"/>
          <p:cNvSpPr txBox="1"/>
          <p:nvPr/>
        </p:nvSpPr>
        <p:spPr>
          <a:xfrm>
            <a:off x="4306824" y="5340096"/>
            <a:ext cx="1965960" cy="164592"/>
          </a:xfrm>
          <a:prstGeom prst="rect">
            <a:avLst/>
          </a:prstGeom>
          <a:noFill/>
        </p:spPr>
        <p:txBody>
          <a:bodyPr wrap="square" lIns="18288" rIns="18288" tIns="18288" bIns="18288" anchor="t">
            <a:spAutoFit/>
          </a:bodyPr>
          <a:lstStyle/>
          <a:p>
            <a:pPr algn="l">
              <a:spcAft>
                <a:spcPts val="0"/>
              </a:spcAft>
            </a:pPr>
            <a:r>
              <a:rPr sz="840" b="1" i="0">
                <a:solidFill>
                  <a:srgbClr val="6FC3D5"/>
                </a:solidFill>
                <a:latin typeface="Aptos"/>
              </a:rPr>
              <a:t>WEATHER + SEASONS</a:t>
            </a:r>
          </a:p>
        </p:txBody>
      </p:sp>
      <p:sp>
        <p:nvSpPr>
          <p:cNvPr id="49" name="TextBox 48"/>
          <p:cNvSpPr txBox="1"/>
          <p:nvPr/>
        </p:nvSpPr>
        <p:spPr>
          <a:xfrm>
            <a:off x="4306824" y="5559552"/>
            <a:ext cx="2011680" cy="320040"/>
          </a:xfrm>
          <a:prstGeom prst="rect">
            <a:avLst/>
          </a:prstGeom>
          <a:noFill/>
        </p:spPr>
        <p:txBody>
          <a:bodyPr wrap="square" lIns="18288" rIns="18288" tIns="18288" bIns="18288" anchor="t">
            <a:spAutoFit/>
          </a:bodyPr>
          <a:lstStyle/>
          <a:p>
            <a:pPr algn="l">
              <a:spcAft>
                <a:spcPts val="0"/>
              </a:spcAft>
            </a:pPr>
            <a:r>
              <a:rPr sz="810" b="0" i="0">
                <a:solidFill>
                  <a:srgbClr val="B6C9BB"/>
                </a:solidFill>
                <a:latin typeface="Aptos"/>
              </a:rPr>
              <a:t>change demand, production, fires, floods and growth</a:t>
            </a:r>
          </a:p>
        </p:txBody>
      </p:sp>
      <p:sp>
        <p:nvSpPr>
          <p:cNvPr id="50" name="TextBox 49"/>
          <p:cNvSpPr txBox="1"/>
          <p:nvPr/>
        </p:nvSpPr>
        <p:spPr>
          <a:xfrm>
            <a:off x="6300216" y="5532120"/>
            <a:ext cx="219456" cy="210312"/>
          </a:xfrm>
          <a:prstGeom prst="rect">
            <a:avLst/>
          </a:prstGeom>
          <a:noFill/>
        </p:spPr>
        <p:txBody>
          <a:bodyPr wrap="square" lIns="18288" rIns="18288" tIns="18288" bIns="18288" anchor="t">
            <a:spAutoFit/>
          </a:bodyPr>
          <a:lstStyle/>
          <a:p>
            <a:pPr algn="ctr">
              <a:spcAft>
                <a:spcPts val="0"/>
              </a:spcAft>
            </a:pPr>
            <a:r>
              <a:rPr sz="1500" b="1" i="0">
                <a:solidFill>
                  <a:srgbClr val="7F9B89"/>
                </a:solidFill>
                <a:latin typeface="Aptos"/>
              </a:rPr>
              <a:t>→</a:t>
            </a:r>
          </a:p>
        </p:txBody>
      </p:sp>
      <p:sp>
        <p:nvSpPr>
          <p:cNvPr id="51" name="TextBox 50"/>
          <p:cNvSpPr txBox="1"/>
          <p:nvPr/>
        </p:nvSpPr>
        <p:spPr>
          <a:xfrm>
            <a:off x="6601968" y="5340096"/>
            <a:ext cx="1965960" cy="164592"/>
          </a:xfrm>
          <a:prstGeom prst="rect">
            <a:avLst/>
          </a:prstGeom>
          <a:noFill/>
        </p:spPr>
        <p:txBody>
          <a:bodyPr wrap="square" lIns="18288" rIns="18288" tIns="18288" bIns="18288" anchor="t">
            <a:spAutoFit/>
          </a:bodyPr>
          <a:lstStyle/>
          <a:p>
            <a:pPr algn="l">
              <a:spcAft>
                <a:spcPts val="0"/>
              </a:spcAft>
            </a:pPr>
            <a:r>
              <a:rPr sz="840" b="1" i="0">
                <a:solidFill>
                  <a:srgbClr val="E4C967"/>
                </a:solidFill>
                <a:latin typeface="Aptos"/>
              </a:rPr>
              <a:t>24-HOUR RATES</a:t>
            </a:r>
          </a:p>
        </p:txBody>
      </p:sp>
      <p:sp>
        <p:nvSpPr>
          <p:cNvPr id="52" name="TextBox 51"/>
          <p:cNvSpPr txBox="1"/>
          <p:nvPr/>
        </p:nvSpPr>
        <p:spPr>
          <a:xfrm>
            <a:off x="6601968" y="5559552"/>
            <a:ext cx="2011680" cy="320040"/>
          </a:xfrm>
          <a:prstGeom prst="rect">
            <a:avLst/>
          </a:prstGeom>
          <a:noFill/>
        </p:spPr>
        <p:txBody>
          <a:bodyPr wrap="square" lIns="18288" rIns="18288" tIns="18288" bIns="18288" anchor="t">
            <a:spAutoFit/>
          </a:bodyPr>
          <a:lstStyle/>
          <a:p>
            <a:pPr algn="l">
              <a:spcAft>
                <a:spcPts val="0"/>
              </a:spcAft>
            </a:pPr>
            <a:r>
              <a:rPr sz="810" b="0" i="0">
                <a:solidFill>
                  <a:srgbClr val="B6C9BB"/>
                </a:solidFill>
                <a:latin typeface="Aptos"/>
              </a:rPr>
              <a:t>combine daytime staffing with overnight processes</a:t>
            </a:r>
          </a:p>
        </p:txBody>
      </p:sp>
      <p:sp>
        <p:nvSpPr>
          <p:cNvPr id="53" name="TextBox 52"/>
          <p:cNvSpPr txBox="1"/>
          <p:nvPr/>
        </p:nvSpPr>
        <p:spPr>
          <a:xfrm>
            <a:off x="8595360" y="5532120"/>
            <a:ext cx="219456" cy="210312"/>
          </a:xfrm>
          <a:prstGeom prst="rect">
            <a:avLst/>
          </a:prstGeom>
          <a:noFill/>
        </p:spPr>
        <p:txBody>
          <a:bodyPr wrap="square" lIns="18288" rIns="18288" tIns="18288" bIns="18288" anchor="t">
            <a:spAutoFit/>
          </a:bodyPr>
          <a:lstStyle/>
          <a:p>
            <a:pPr algn="ctr">
              <a:spcAft>
                <a:spcPts val="0"/>
              </a:spcAft>
            </a:pPr>
            <a:r>
              <a:rPr sz="1500" b="1" i="0">
                <a:solidFill>
                  <a:srgbClr val="7F9B89"/>
                </a:solidFill>
                <a:latin typeface="Aptos"/>
              </a:rPr>
              <a:t>→</a:t>
            </a:r>
          </a:p>
        </p:txBody>
      </p:sp>
      <p:sp>
        <p:nvSpPr>
          <p:cNvPr id="54" name="TextBox 53"/>
          <p:cNvSpPr txBox="1"/>
          <p:nvPr/>
        </p:nvSpPr>
        <p:spPr>
          <a:xfrm>
            <a:off x="8897112" y="5340096"/>
            <a:ext cx="1965960" cy="164592"/>
          </a:xfrm>
          <a:prstGeom prst="rect">
            <a:avLst/>
          </a:prstGeom>
          <a:noFill/>
        </p:spPr>
        <p:txBody>
          <a:bodyPr wrap="square" lIns="18288" rIns="18288" tIns="18288" bIns="18288" anchor="t">
            <a:spAutoFit/>
          </a:bodyPr>
          <a:lstStyle/>
          <a:p>
            <a:pPr algn="l">
              <a:spcAft>
                <a:spcPts val="0"/>
              </a:spcAft>
            </a:pPr>
            <a:r>
              <a:rPr sz="840" b="1" i="0">
                <a:solidFill>
                  <a:srgbClr val="C79AEC"/>
                </a:solidFill>
                <a:latin typeface="Aptos"/>
              </a:rPr>
              <a:t>FEEDBACK</a:t>
            </a:r>
          </a:p>
        </p:txBody>
      </p:sp>
      <p:sp>
        <p:nvSpPr>
          <p:cNvPr id="55" name="TextBox 54"/>
          <p:cNvSpPr txBox="1"/>
          <p:nvPr/>
        </p:nvSpPr>
        <p:spPr>
          <a:xfrm>
            <a:off x="8897112" y="5559552"/>
            <a:ext cx="2011680" cy="320040"/>
          </a:xfrm>
          <a:prstGeom prst="rect">
            <a:avLst/>
          </a:prstGeom>
          <a:noFill/>
        </p:spPr>
        <p:txBody>
          <a:bodyPr wrap="square" lIns="18288" rIns="18288" tIns="18288" bIns="18288" anchor="t">
            <a:spAutoFit/>
          </a:bodyPr>
          <a:lstStyle/>
          <a:p>
            <a:pPr algn="l">
              <a:spcAft>
                <a:spcPts val="0"/>
              </a:spcAft>
            </a:pPr>
            <a:r>
              <a:rPr sz="810" b="0" i="0">
                <a:solidFill>
                  <a:srgbClr val="B6C9BB"/>
                </a:solidFill>
                <a:latin typeface="Aptos"/>
              </a:rPr>
              <a:t>changes food, health, morale and long-term resilience</a:t>
            </a:r>
          </a:p>
        </p:txBody>
      </p:sp>
      <p:sp>
        <p:nvSpPr>
          <p:cNvPr id="56" name="Rounded Rectangle 55"/>
          <p:cNvSpPr/>
          <p:nvPr/>
        </p:nvSpPr>
        <p:spPr>
          <a:xfrm>
            <a:off x="9811512" y="5833872"/>
            <a:ext cx="1655064" cy="228600"/>
          </a:xfrm>
          <a:prstGeom prst="roundRect">
            <a:avLst/>
          </a:prstGeom>
          <a:solidFill>
            <a:srgbClr val="38251F"/>
          </a:solidFill>
          <a:ln w="10160">
            <a:solidFill>
              <a:srgbClr val="F47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11512" y="5888736"/>
            <a:ext cx="1655064" cy="91440"/>
          </a:xfrm>
          <a:prstGeom prst="rect">
            <a:avLst/>
          </a:prstGeom>
          <a:noFill/>
        </p:spPr>
        <p:txBody>
          <a:bodyPr wrap="square" lIns="18288" rIns="18288" tIns="18288" bIns="18288" anchor="t">
            <a:spAutoFit/>
          </a:bodyPr>
          <a:lstStyle/>
          <a:p>
            <a:pPr algn="ctr">
              <a:spcAft>
                <a:spcPts val="0"/>
              </a:spcAft>
            </a:pPr>
            <a:r>
              <a:rPr sz="660" b="1" i="0">
                <a:solidFill>
                  <a:srgbClr val="F47E70"/>
                </a:solidFill>
                <a:latin typeface="Aptos"/>
              </a:rPr>
              <a:t>COLLAPSE: &lt;5% OR ANY 0%</a:t>
            </a:r>
          </a:p>
        </p:txBody>
      </p:sp>
      <p:sp>
        <p:nvSpPr>
          <p:cNvPr id="58" name="Rectangle 57"/>
          <p:cNvSpPr/>
          <p:nvPr/>
        </p:nvSpPr>
        <p:spPr>
          <a:xfrm>
            <a:off x="475488" y="6556248"/>
            <a:ext cx="11237976" cy="10972"/>
          </a:xfrm>
          <a:prstGeom prst="rect">
            <a:avLst/>
          </a:prstGeom>
          <a:solidFill>
            <a:srgbClr val="2B5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75488" y="6592824"/>
            <a:ext cx="6583680" cy="164592"/>
          </a:xfrm>
          <a:prstGeom prst="rect">
            <a:avLst/>
          </a:prstGeom>
          <a:noFill/>
        </p:spPr>
        <p:txBody>
          <a:bodyPr wrap="square" lIns="18288" rIns="18288" tIns="18288" bIns="18288" anchor="t">
            <a:spAutoFit/>
          </a:bodyPr>
          <a:lstStyle/>
          <a:p>
            <a:pPr algn="l">
              <a:spcAft>
                <a:spcPts val="0"/>
              </a:spcAft>
            </a:pPr>
            <a:r>
              <a:rPr sz="750" b="1" i="0">
                <a:solidFill>
                  <a:srgbClr val="7F9B89"/>
                </a:solidFill>
                <a:latin typeface="Aptos"/>
              </a:rPr>
              <a:t>WILDROOT VILLAGE · ECOSYSTEM VILLAGE PROJECT</a:t>
            </a:r>
          </a:p>
        </p:txBody>
      </p:sp>
      <p:sp>
        <p:nvSpPr>
          <p:cNvPr id="60" name="TextBox 59"/>
          <p:cNvSpPr txBox="1"/>
          <p:nvPr/>
        </p:nvSpPr>
        <p:spPr>
          <a:xfrm>
            <a:off x="11384280" y="6574536"/>
            <a:ext cx="320040" cy="164592"/>
          </a:xfrm>
          <a:prstGeom prst="rect">
            <a:avLst/>
          </a:prstGeom>
          <a:noFill/>
        </p:spPr>
        <p:txBody>
          <a:bodyPr wrap="square" lIns="18288" rIns="18288" tIns="18288" bIns="18288" anchor="t">
            <a:spAutoFit/>
          </a:bodyPr>
          <a:lstStyle/>
          <a:p>
            <a:pPr algn="r">
              <a:spcAft>
                <a:spcPts val="0"/>
              </a:spcAft>
            </a:pPr>
            <a:r>
              <a:rPr sz="850" b="1" i="0">
                <a:solidFill>
                  <a:srgbClr val="7F9B89"/>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F18"/>
        </a:solidFill>
        <a:effectLst/>
      </p:bgPr>
    </p:bg>
    <p:spTree>
      <p:nvGrpSpPr>
        <p:cNvPr id="1" name=""/>
        <p:cNvGrpSpPr/>
        <p:nvPr/>
      </p:nvGrpSpPr>
      <p:grpSpPr/>
      <p:sp>
        <p:nvSpPr>
          <p:cNvPr id="2" name="TextBox 1"/>
          <p:cNvSpPr txBox="1"/>
          <p:nvPr/>
        </p:nvSpPr>
        <p:spPr>
          <a:xfrm>
            <a:off x="475488" y="256032"/>
            <a:ext cx="530352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VILLAGE SYSTEMS</a:t>
            </a:r>
          </a:p>
        </p:txBody>
      </p:sp>
      <p:sp>
        <p:nvSpPr>
          <p:cNvPr id="3" name="TextBox 2"/>
          <p:cNvSpPr txBox="1"/>
          <p:nvPr/>
        </p:nvSpPr>
        <p:spPr>
          <a:xfrm>
            <a:off x="475488" y="493776"/>
            <a:ext cx="10698480" cy="475488"/>
          </a:xfrm>
          <a:prstGeom prst="rect">
            <a:avLst/>
          </a:prstGeom>
          <a:noFill/>
        </p:spPr>
        <p:txBody>
          <a:bodyPr wrap="square" lIns="18288" rIns="18288" tIns="18288" bIns="18288" anchor="t">
            <a:spAutoFit/>
          </a:bodyPr>
          <a:lstStyle/>
          <a:p>
            <a:pPr algn="l">
              <a:spcAft>
                <a:spcPts val="0"/>
              </a:spcAft>
            </a:pPr>
            <a:r>
              <a:rPr sz="2800" b="1" i="0">
                <a:solidFill>
                  <a:srgbClr val="F3F1D5"/>
                </a:solidFill>
                <a:latin typeface="Georgia"/>
              </a:rPr>
              <a:t>People, work and the resource economy</a:t>
            </a:r>
          </a:p>
        </p:txBody>
      </p:sp>
      <p:sp>
        <p:nvSpPr>
          <p:cNvPr id="4" name="TextBox 3"/>
          <p:cNvSpPr txBox="1"/>
          <p:nvPr/>
        </p:nvSpPr>
        <p:spPr>
          <a:xfrm>
            <a:off x="493776" y="932688"/>
            <a:ext cx="10607040" cy="292608"/>
          </a:xfrm>
          <a:prstGeom prst="rect">
            <a:avLst/>
          </a:prstGeom>
          <a:noFill/>
        </p:spPr>
        <p:txBody>
          <a:bodyPr wrap="square" lIns="18288" rIns="18288" tIns="18288" bIns="18288" anchor="t">
            <a:spAutoFit/>
          </a:bodyPr>
          <a:lstStyle/>
          <a:p>
            <a:pPr algn="l">
              <a:spcAft>
                <a:spcPts val="0"/>
              </a:spcAft>
            </a:pPr>
            <a:r>
              <a:rPr sz="1120" b="0" i="0">
                <a:solidFill>
                  <a:srgbClr val="B6C9BB"/>
                </a:solidFill>
                <a:latin typeface="Aptos"/>
              </a:rPr>
              <a:t>Residents have homes, ages, jobs and journeys; buildings operate on different schedules and capacities.</a:t>
            </a:r>
          </a:p>
        </p:txBody>
      </p:sp>
      <p:sp>
        <p:nvSpPr>
          <p:cNvPr id="5" name="TextBox 4"/>
          <p:cNvSpPr txBox="1"/>
          <p:nvPr/>
        </p:nvSpPr>
        <p:spPr>
          <a:xfrm>
            <a:off x="11265408" y="338328"/>
            <a:ext cx="438912" cy="274320"/>
          </a:xfrm>
          <a:prstGeom prst="rect">
            <a:avLst/>
          </a:prstGeom>
          <a:noFill/>
        </p:spPr>
        <p:txBody>
          <a:bodyPr wrap="square" lIns="18288" rIns="18288" tIns="18288" bIns="18288" anchor="t">
            <a:spAutoFit/>
          </a:bodyPr>
          <a:lstStyle/>
          <a:p>
            <a:pPr algn="r">
              <a:spcAft>
                <a:spcPts val="0"/>
              </a:spcAft>
            </a:pPr>
            <a:r>
              <a:rPr sz="1000" b="1" i="0">
                <a:solidFill>
                  <a:srgbClr val="A7E87D"/>
                </a:solidFill>
                <a:latin typeface="Aptos"/>
              </a:rPr>
              <a:t>06</a:t>
            </a:r>
          </a:p>
        </p:txBody>
      </p:sp>
      <p:sp>
        <p:nvSpPr>
          <p:cNvPr id="6" name="Rectangle 5"/>
          <p:cNvSpPr/>
          <p:nvPr/>
        </p:nvSpPr>
        <p:spPr>
          <a:xfrm>
            <a:off x="11804904" y="274320"/>
            <a:ext cx="27432" cy="502920"/>
          </a:xfrm>
          <a:prstGeom prst="rect">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84048" y="1271016"/>
            <a:ext cx="5605272" cy="4370832"/>
          </a:xfrm>
          <a:prstGeom prst="roundRect">
            <a:avLst/>
          </a:prstGeom>
          <a:solidFill>
            <a:srgbClr val="061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illage-gameplay.png"/>
          <p:cNvPicPr>
            <a:picLocks noChangeAspect="1"/>
          </p:cNvPicPr>
          <p:nvPr/>
        </p:nvPicPr>
        <p:blipFill>
          <a:blip r:embed="rId2"/>
          <a:srcRect l="15313" r="17500" t="14444"/>
          <a:stretch>
            <a:fillRect/>
          </a:stretch>
        </p:blipFill>
        <p:spPr>
          <a:xfrm>
            <a:off x="466344" y="1353312"/>
            <a:ext cx="5440680" cy="4206240"/>
          </a:xfrm>
          <a:prstGeom prst="rect">
            <a:avLst/>
          </a:prstGeom>
        </p:spPr>
      </p:pic>
      <p:sp>
        <p:nvSpPr>
          <p:cNvPr id="9" name="Rectangle 8"/>
          <p:cNvSpPr/>
          <p:nvPr/>
        </p:nvSpPr>
        <p:spPr>
          <a:xfrm>
            <a:off x="466344" y="1353312"/>
            <a:ext cx="5440680" cy="4206240"/>
          </a:xfrm>
          <a:prstGeom prst="rect">
            <a:avLst/>
          </a:prstGeom>
          <a:noFill/>
          <a:ln w="1651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7512" y="5120640"/>
            <a:ext cx="1444752" cy="265176"/>
          </a:xfrm>
          <a:prstGeom prst="roundRect">
            <a:avLst/>
          </a:prstGeom>
          <a:solidFill>
            <a:srgbClr val="0A281F"/>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5184648"/>
            <a:ext cx="1444752" cy="100584"/>
          </a:xfrm>
          <a:prstGeom prst="rect">
            <a:avLst/>
          </a:prstGeom>
          <a:noFill/>
        </p:spPr>
        <p:txBody>
          <a:bodyPr wrap="square" lIns="18288" rIns="18288" tIns="18288" bIns="18288" anchor="t">
            <a:spAutoFit/>
          </a:bodyPr>
          <a:lstStyle/>
          <a:p>
            <a:pPr algn="ctr">
              <a:spcAft>
                <a:spcPts val="0"/>
              </a:spcAft>
            </a:pPr>
            <a:r>
              <a:rPr sz="710" b="1" i="0">
                <a:solidFill>
                  <a:srgbClr val="A7E87D"/>
                </a:solidFill>
                <a:latin typeface="Aptos"/>
              </a:rPr>
              <a:t>A WORKING VILLAGE</a:t>
            </a:r>
          </a:p>
        </p:txBody>
      </p:sp>
      <p:sp>
        <p:nvSpPr>
          <p:cNvPr id="12" name="Rounded Rectangle 11"/>
          <p:cNvSpPr/>
          <p:nvPr/>
        </p:nvSpPr>
        <p:spPr>
          <a:xfrm>
            <a:off x="6217920" y="1353312"/>
            <a:ext cx="5495544" cy="1188720"/>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53312"/>
            <a:ext cx="54864" cy="1188720"/>
          </a:xfrm>
          <a:prstGeom prst="rect">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490472"/>
            <a:ext cx="1984248" cy="201168"/>
          </a:xfrm>
          <a:prstGeom prst="rect">
            <a:avLst/>
          </a:prstGeom>
          <a:noFill/>
        </p:spPr>
        <p:txBody>
          <a:bodyPr wrap="square" lIns="18288" rIns="18288" tIns="18288" bIns="18288" anchor="t">
            <a:spAutoFit/>
          </a:bodyPr>
          <a:lstStyle/>
          <a:p>
            <a:pPr algn="l">
              <a:spcAft>
                <a:spcPts val="0"/>
              </a:spcAft>
            </a:pPr>
            <a:r>
              <a:rPr sz="1000" b="1" i="0">
                <a:solidFill>
                  <a:srgbClr val="A7E87D"/>
                </a:solidFill>
                <a:latin typeface="Aptos"/>
              </a:rPr>
              <a:t>PEOPLE + LIFE</a:t>
            </a:r>
          </a:p>
        </p:txBody>
      </p:sp>
      <p:sp>
        <p:nvSpPr>
          <p:cNvPr id="15" name="TextBox 14"/>
          <p:cNvSpPr txBox="1"/>
          <p:nvPr/>
        </p:nvSpPr>
        <p:spPr>
          <a:xfrm>
            <a:off x="6446520" y="1764792"/>
            <a:ext cx="5010912" cy="612648"/>
          </a:xfrm>
          <a:prstGeom prst="rect">
            <a:avLst/>
          </a:prstGeom>
          <a:noFill/>
        </p:spPr>
        <p:txBody>
          <a:bodyPr wrap="square" lIns="18288" rIns="18288" tIns="18288" bIns="18288" anchor="t">
            <a:spAutoFit/>
          </a:bodyPr>
          <a:lstStyle/>
          <a:p>
            <a:pPr algn="l">
              <a:spcAft>
                <a:spcPts val="0"/>
              </a:spcAft>
            </a:pPr>
            <a:r>
              <a:rPr sz="1010" b="0" i="0">
                <a:solidFill>
                  <a:srgbClr val="B6C9BB"/>
                </a:solidFill>
                <a:latin typeface="Aptos"/>
              </a:rPr>
              <a:t>Freeplay starts with 10 adult founders. The population includes children, adults and elders. Children become adults after 7 in-game days; residents have persistent homes and a hidden natural lifespan of 40–60 days.</a:t>
            </a:r>
          </a:p>
        </p:txBody>
      </p:sp>
      <p:sp>
        <p:nvSpPr>
          <p:cNvPr id="16" name="Rounded Rectangle 15"/>
          <p:cNvSpPr/>
          <p:nvPr/>
        </p:nvSpPr>
        <p:spPr>
          <a:xfrm>
            <a:off x="6217920" y="2679191"/>
            <a:ext cx="5495544" cy="1188720"/>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2679191"/>
            <a:ext cx="54864" cy="1188720"/>
          </a:xfrm>
          <a:prstGeom prst="rect">
            <a:avLst/>
          </a:prstGeom>
          <a:solidFill>
            <a:srgbClr val="6FC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816351"/>
            <a:ext cx="1984248" cy="201168"/>
          </a:xfrm>
          <a:prstGeom prst="rect">
            <a:avLst/>
          </a:prstGeom>
          <a:noFill/>
        </p:spPr>
        <p:txBody>
          <a:bodyPr wrap="square" lIns="18288" rIns="18288" tIns="18288" bIns="18288" anchor="t">
            <a:spAutoFit/>
          </a:bodyPr>
          <a:lstStyle/>
          <a:p>
            <a:pPr algn="l">
              <a:spcAft>
                <a:spcPts val="0"/>
              </a:spcAft>
            </a:pPr>
            <a:r>
              <a:rPr sz="1000" b="1" i="0">
                <a:solidFill>
                  <a:srgbClr val="6FC3D5"/>
                </a:solidFill>
                <a:latin typeface="Aptos"/>
              </a:rPr>
              <a:t>WORK + MOVEMENT</a:t>
            </a:r>
          </a:p>
        </p:txBody>
      </p:sp>
      <p:sp>
        <p:nvSpPr>
          <p:cNvPr id="19" name="TextBox 18"/>
          <p:cNvSpPr txBox="1"/>
          <p:nvPr/>
        </p:nvSpPr>
        <p:spPr>
          <a:xfrm>
            <a:off x="6446520" y="3090672"/>
            <a:ext cx="5010912" cy="612648"/>
          </a:xfrm>
          <a:prstGeom prst="rect">
            <a:avLst/>
          </a:prstGeom>
          <a:noFill/>
        </p:spPr>
        <p:txBody>
          <a:bodyPr wrap="square" lIns="18288" rIns="18288" tIns="18288" bIns="18288" anchor="t">
            <a:spAutoFit/>
          </a:bodyPr>
          <a:lstStyle/>
          <a:p>
            <a:pPr algn="l">
              <a:spcAft>
                <a:spcPts val="0"/>
              </a:spcAft>
            </a:pPr>
            <a:r>
              <a:rPr sz="1010" b="0" i="0">
                <a:solidFill>
                  <a:srgbClr val="B6C9BB"/>
                </a:solidFill>
                <a:latin typeface="Aptos"/>
              </a:rPr>
              <a:t>Staffed buildings operate 07:00–18:30. Residents walk between home, work, parks, school and storage; workers carry 1–3 items per supply trip. Automatic buildings continue overnight.</a:t>
            </a:r>
          </a:p>
        </p:txBody>
      </p:sp>
      <p:sp>
        <p:nvSpPr>
          <p:cNvPr id="20" name="Rounded Rectangle 19"/>
          <p:cNvSpPr/>
          <p:nvPr/>
        </p:nvSpPr>
        <p:spPr>
          <a:xfrm>
            <a:off x="6217920" y="4005072"/>
            <a:ext cx="5495544" cy="1188720"/>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4005072"/>
            <a:ext cx="54864" cy="1188720"/>
          </a:xfrm>
          <a:prstGeom prst="rect">
            <a:avLst/>
          </a:prstGeom>
          <a:solidFill>
            <a:srgbClr val="E4C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142232"/>
            <a:ext cx="1984248" cy="201168"/>
          </a:xfrm>
          <a:prstGeom prst="rect">
            <a:avLst/>
          </a:prstGeom>
          <a:noFill/>
        </p:spPr>
        <p:txBody>
          <a:bodyPr wrap="square" lIns="18288" rIns="18288" tIns="18288" bIns="18288" anchor="t">
            <a:spAutoFit/>
          </a:bodyPr>
          <a:lstStyle/>
          <a:p>
            <a:pPr algn="l">
              <a:spcAft>
                <a:spcPts val="0"/>
              </a:spcAft>
            </a:pPr>
            <a:r>
              <a:rPr sz="1000" b="1" i="0">
                <a:solidFill>
                  <a:srgbClr val="E4C967"/>
                </a:solidFill>
                <a:latin typeface="Aptos"/>
              </a:rPr>
              <a:t>STORAGE + SUPPLY</a:t>
            </a:r>
          </a:p>
        </p:txBody>
      </p:sp>
      <p:sp>
        <p:nvSpPr>
          <p:cNvPr id="23" name="TextBox 22"/>
          <p:cNvSpPr txBox="1"/>
          <p:nvPr/>
        </p:nvSpPr>
        <p:spPr>
          <a:xfrm>
            <a:off x="6446520" y="4416552"/>
            <a:ext cx="5010912" cy="612648"/>
          </a:xfrm>
          <a:prstGeom prst="rect">
            <a:avLst/>
          </a:prstGeom>
          <a:noFill/>
        </p:spPr>
        <p:txBody>
          <a:bodyPr wrap="square" lIns="18288" rIns="18288" tIns="18288" bIns="18288" anchor="t">
            <a:spAutoFit/>
          </a:bodyPr>
          <a:lstStyle/>
          <a:p>
            <a:pPr algn="l">
              <a:spcAft>
                <a:spcPts val="0"/>
              </a:spcAft>
            </a:pPr>
            <a:r>
              <a:rPr sz="1010" b="0" i="0">
                <a:solidFill>
                  <a:srgbClr val="B6C9BB"/>
                </a:solidFill>
                <a:latin typeface="Aptos"/>
              </a:rPr>
              <a:t>The Founders’ Hearth stores 400 of each material. Every Storehouse adds 200 food, water, timber and stone capacity. Production above the cap is discarded, so overnight reserves matter.</a:t>
            </a:r>
          </a:p>
        </p:txBody>
      </p:sp>
      <p:sp>
        <p:nvSpPr>
          <p:cNvPr id="24" name="TextBox 23"/>
          <p:cNvSpPr txBox="1"/>
          <p:nvPr/>
        </p:nvSpPr>
        <p:spPr>
          <a:xfrm>
            <a:off x="6236208" y="5376672"/>
            <a:ext cx="292608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THREE IMPORTANT TRADE-OFFS</a:t>
            </a:r>
          </a:p>
        </p:txBody>
      </p:sp>
      <p:sp>
        <p:nvSpPr>
          <p:cNvPr id="25" name="Rounded Rectangle 24"/>
          <p:cNvSpPr/>
          <p:nvPr/>
        </p:nvSpPr>
        <p:spPr>
          <a:xfrm>
            <a:off x="6217920" y="5650992"/>
            <a:ext cx="1737360" cy="594360"/>
          </a:xfrm>
          <a:prstGeom prst="roundRect">
            <a:avLst/>
          </a:prstGeom>
          <a:solidFill>
            <a:srgbClr val="0A281F"/>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7648" y="5751576"/>
            <a:ext cx="1481328" cy="137160"/>
          </a:xfrm>
          <a:prstGeom prst="rect">
            <a:avLst/>
          </a:prstGeom>
          <a:noFill/>
        </p:spPr>
        <p:txBody>
          <a:bodyPr wrap="square" lIns="18288" rIns="18288" tIns="18288" bIns="18288" anchor="t">
            <a:spAutoFit/>
          </a:bodyPr>
          <a:lstStyle/>
          <a:p>
            <a:pPr algn="l">
              <a:spcAft>
                <a:spcPts val="0"/>
              </a:spcAft>
            </a:pPr>
            <a:r>
              <a:rPr sz="750" b="1" i="0">
                <a:solidFill>
                  <a:srgbClr val="A7E87D"/>
                </a:solidFill>
                <a:latin typeface="Aptos"/>
              </a:rPr>
              <a:t>FARMS</a:t>
            </a:r>
          </a:p>
        </p:txBody>
      </p:sp>
      <p:sp>
        <p:nvSpPr>
          <p:cNvPr id="27" name="TextBox 26"/>
          <p:cNvSpPr txBox="1"/>
          <p:nvPr/>
        </p:nvSpPr>
        <p:spPr>
          <a:xfrm>
            <a:off x="6327648" y="5916168"/>
            <a:ext cx="1508760" cy="256032"/>
          </a:xfrm>
          <a:prstGeom prst="rect">
            <a:avLst/>
          </a:prstGeom>
          <a:noFill/>
        </p:spPr>
        <p:txBody>
          <a:bodyPr wrap="square" lIns="18288" rIns="18288" tIns="18288" bIns="18288" anchor="t">
            <a:spAutoFit/>
          </a:bodyPr>
          <a:lstStyle/>
          <a:p>
            <a:pPr algn="l">
              <a:spcAft>
                <a:spcPts val="0"/>
              </a:spcAft>
            </a:pPr>
            <a:r>
              <a:rPr sz="690" b="0" i="0">
                <a:solidFill>
                  <a:srgbClr val="B6C9BB"/>
                </a:solidFill>
                <a:latin typeface="Aptos"/>
              </a:rPr>
              <a:t>1 farmer = 0.5×; 2 = 1×; 3 = 2× output—and 2× water use and pressure.</a:t>
            </a:r>
          </a:p>
        </p:txBody>
      </p:sp>
      <p:sp>
        <p:nvSpPr>
          <p:cNvPr id="28" name="Rounded Rectangle 27"/>
          <p:cNvSpPr/>
          <p:nvPr/>
        </p:nvSpPr>
        <p:spPr>
          <a:xfrm>
            <a:off x="8092440" y="5650992"/>
            <a:ext cx="1737360" cy="594360"/>
          </a:xfrm>
          <a:prstGeom prst="roundRect">
            <a:avLst/>
          </a:prstGeom>
          <a:solidFill>
            <a:srgbClr val="0A281F"/>
          </a:solidFill>
          <a:ln w="10160">
            <a:solidFill>
              <a:srgbClr val="E4C9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02167" y="5751576"/>
            <a:ext cx="1481328" cy="137160"/>
          </a:xfrm>
          <a:prstGeom prst="rect">
            <a:avLst/>
          </a:prstGeom>
          <a:noFill/>
        </p:spPr>
        <p:txBody>
          <a:bodyPr wrap="square" lIns="18288" rIns="18288" tIns="18288" bIns="18288" anchor="t">
            <a:spAutoFit/>
          </a:bodyPr>
          <a:lstStyle/>
          <a:p>
            <a:pPr algn="l">
              <a:spcAft>
                <a:spcPts val="0"/>
              </a:spcAft>
            </a:pPr>
            <a:r>
              <a:rPr sz="750" b="1" i="0">
                <a:solidFill>
                  <a:srgbClr val="E4C967"/>
                </a:solidFill>
                <a:latin typeface="Aptos"/>
              </a:rPr>
              <a:t>FORESTRY</a:t>
            </a:r>
          </a:p>
        </p:txBody>
      </p:sp>
      <p:sp>
        <p:nvSpPr>
          <p:cNvPr id="30" name="TextBox 29"/>
          <p:cNvSpPr txBox="1"/>
          <p:nvPr/>
        </p:nvSpPr>
        <p:spPr>
          <a:xfrm>
            <a:off x="8202167" y="5916168"/>
            <a:ext cx="1508760" cy="256032"/>
          </a:xfrm>
          <a:prstGeom prst="rect">
            <a:avLst/>
          </a:prstGeom>
          <a:noFill/>
        </p:spPr>
        <p:txBody>
          <a:bodyPr wrap="square" lIns="18288" rIns="18288" tIns="18288" bIns="18288" anchor="t">
            <a:spAutoFit/>
          </a:bodyPr>
          <a:lstStyle/>
          <a:p>
            <a:pPr algn="l">
              <a:spcAft>
                <a:spcPts val="0"/>
              </a:spcAft>
            </a:pPr>
            <a:r>
              <a:rPr sz="690" b="0" i="0">
                <a:solidFill>
                  <a:srgbClr val="B6C9BB"/>
                </a:solidFill>
                <a:latin typeface="Aptos"/>
              </a:rPr>
              <a:t>Logging is fast nearby; Wood Farms regrow 16 plots in 5 days. Full storage pauses cutting.</a:t>
            </a:r>
          </a:p>
        </p:txBody>
      </p:sp>
      <p:sp>
        <p:nvSpPr>
          <p:cNvPr id="31" name="Rounded Rectangle 30"/>
          <p:cNvSpPr/>
          <p:nvPr/>
        </p:nvSpPr>
        <p:spPr>
          <a:xfrm>
            <a:off x="9966959" y="5650992"/>
            <a:ext cx="1737360" cy="594360"/>
          </a:xfrm>
          <a:prstGeom prst="roundRect">
            <a:avLst/>
          </a:prstGeom>
          <a:solidFill>
            <a:srgbClr val="0A281F"/>
          </a:solidFill>
          <a:ln w="10160">
            <a:solidFill>
              <a:srgbClr val="C79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76687" y="5751576"/>
            <a:ext cx="1481328" cy="137160"/>
          </a:xfrm>
          <a:prstGeom prst="rect">
            <a:avLst/>
          </a:prstGeom>
          <a:noFill/>
        </p:spPr>
        <p:txBody>
          <a:bodyPr wrap="square" lIns="18288" rIns="18288" tIns="18288" bIns="18288" anchor="t">
            <a:spAutoFit/>
          </a:bodyPr>
          <a:lstStyle/>
          <a:p>
            <a:pPr algn="l">
              <a:spcAft>
                <a:spcPts val="0"/>
              </a:spcAft>
            </a:pPr>
            <a:r>
              <a:rPr sz="750" b="1" i="0">
                <a:solidFill>
                  <a:srgbClr val="C79AEC"/>
                </a:solidFill>
                <a:latin typeface="Aptos"/>
              </a:rPr>
              <a:t>SITING</a:t>
            </a:r>
          </a:p>
        </p:txBody>
      </p:sp>
      <p:sp>
        <p:nvSpPr>
          <p:cNvPr id="33" name="TextBox 32"/>
          <p:cNvSpPr txBox="1"/>
          <p:nvPr/>
        </p:nvSpPr>
        <p:spPr>
          <a:xfrm>
            <a:off x="10076687" y="5916168"/>
            <a:ext cx="1508760" cy="256032"/>
          </a:xfrm>
          <a:prstGeom prst="rect">
            <a:avLst/>
          </a:prstGeom>
          <a:noFill/>
        </p:spPr>
        <p:txBody>
          <a:bodyPr wrap="square" lIns="18288" rIns="18288" tIns="18288" bIns="18288" anchor="t">
            <a:spAutoFit/>
          </a:bodyPr>
          <a:lstStyle/>
          <a:p>
            <a:pPr algn="l">
              <a:spcAft>
                <a:spcPts val="0"/>
              </a:spcAft>
            </a:pPr>
            <a:r>
              <a:rPr sz="690" b="0" i="0">
                <a:solidFill>
                  <a:srgbClr val="B6C9BB"/>
                </a:solidFill>
                <a:latin typeface="Aptos"/>
              </a:rPr>
              <a:t>Industry near crops reduces yield; loud buildings near occupied homes lower morale and health.</a:t>
            </a:r>
          </a:p>
        </p:txBody>
      </p:sp>
      <p:sp>
        <p:nvSpPr>
          <p:cNvPr id="34" name="Rectangle 33"/>
          <p:cNvSpPr/>
          <p:nvPr/>
        </p:nvSpPr>
        <p:spPr>
          <a:xfrm>
            <a:off x="475488" y="6556248"/>
            <a:ext cx="11237976" cy="10972"/>
          </a:xfrm>
          <a:prstGeom prst="rect">
            <a:avLst/>
          </a:prstGeom>
          <a:solidFill>
            <a:srgbClr val="2B5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 y="6592824"/>
            <a:ext cx="6583680" cy="164592"/>
          </a:xfrm>
          <a:prstGeom prst="rect">
            <a:avLst/>
          </a:prstGeom>
          <a:noFill/>
        </p:spPr>
        <p:txBody>
          <a:bodyPr wrap="square" lIns="18288" rIns="18288" tIns="18288" bIns="18288" anchor="t">
            <a:spAutoFit/>
          </a:bodyPr>
          <a:lstStyle/>
          <a:p>
            <a:pPr algn="l">
              <a:spcAft>
                <a:spcPts val="0"/>
              </a:spcAft>
            </a:pPr>
            <a:r>
              <a:rPr sz="750" b="1" i="0">
                <a:solidFill>
                  <a:srgbClr val="7F9B89"/>
                </a:solidFill>
                <a:latin typeface="Aptos"/>
              </a:rPr>
              <a:t>WILDROOT VILLAGE · ECOSYSTEM VILLAGE PROJECT</a:t>
            </a:r>
          </a:p>
        </p:txBody>
      </p:sp>
      <p:sp>
        <p:nvSpPr>
          <p:cNvPr id="36" name="TextBox 35"/>
          <p:cNvSpPr txBox="1"/>
          <p:nvPr/>
        </p:nvSpPr>
        <p:spPr>
          <a:xfrm>
            <a:off x="11384280" y="6574536"/>
            <a:ext cx="320040" cy="164592"/>
          </a:xfrm>
          <a:prstGeom prst="rect">
            <a:avLst/>
          </a:prstGeom>
          <a:noFill/>
        </p:spPr>
        <p:txBody>
          <a:bodyPr wrap="square" lIns="18288" rIns="18288" tIns="18288" bIns="18288" anchor="t">
            <a:spAutoFit/>
          </a:bodyPr>
          <a:lstStyle/>
          <a:p>
            <a:pPr algn="r">
              <a:spcAft>
                <a:spcPts val="0"/>
              </a:spcAft>
            </a:pPr>
            <a:r>
              <a:rPr sz="850" b="1" i="0">
                <a:solidFill>
                  <a:srgbClr val="7F9B89"/>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F18"/>
        </a:solidFill>
        <a:effectLst/>
      </p:bgPr>
    </p:bg>
    <p:spTree>
      <p:nvGrpSpPr>
        <p:cNvPr id="1" name=""/>
        <p:cNvGrpSpPr/>
        <p:nvPr/>
      </p:nvGrpSpPr>
      <p:grpSpPr/>
      <p:sp>
        <p:nvSpPr>
          <p:cNvPr id="2" name="TextBox 1"/>
          <p:cNvSpPr txBox="1"/>
          <p:nvPr/>
        </p:nvSpPr>
        <p:spPr>
          <a:xfrm>
            <a:off x="475488" y="256032"/>
            <a:ext cx="530352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SCENARIOS, WEATHER AND RISK</a:t>
            </a:r>
          </a:p>
        </p:txBody>
      </p:sp>
      <p:sp>
        <p:nvSpPr>
          <p:cNvPr id="3" name="TextBox 2"/>
          <p:cNvSpPr txBox="1"/>
          <p:nvPr/>
        </p:nvSpPr>
        <p:spPr>
          <a:xfrm>
            <a:off x="475488" y="493776"/>
            <a:ext cx="10698480" cy="475488"/>
          </a:xfrm>
          <a:prstGeom prst="rect">
            <a:avLst/>
          </a:prstGeom>
          <a:noFill/>
        </p:spPr>
        <p:txBody>
          <a:bodyPr wrap="square" lIns="18288" rIns="18288" tIns="18288" bIns="18288" anchor="t">
            <a:spAutoFit/>
          </a:bodyPr>
          <a:lstStyle/>
          <a:p>
            <a:pPr algn="l">
              <a:spcAft>
                <a:spcPts val="0"/>
              </a:spcAft>
            </a:pPr>
            <a:r>
              <a:rPr sz="2800" b="1" i="0">
                <a:solidFill>
                  <a:srgbClr val="F3F1D5"/>
                </a:solidFill>
                <a:latin typeface="Georgia"/>
              </a:rPr>
              <a:t>Eight scenarios turn systems into problems</a:t>
            </a:r>
          </a:p>
        </p:txBody>
      </p:sp>
      <p:sp>
        <p:nvSpPr>
          <p:cNvPr id="4" name="TextBox 3"/>
          <p:cNvSpPr txBox="1"/>
          <p:nvPr/>
        </p:nvSpPr>
        <p:spPr>
          <a:xfrm>
            <a:off x="493776" y="932688"/>
            <a:ext cx="10607040" cy="292608"/>
          </a:xfrm>
          <a:prstGeom prst="rect">
            <a:avLst/>
          </a:prstGeom>
          <a:noFill/>
        </p:spPr>
        <p:txBody>
          <a:bodyPr wrap="square" lIns="18288" rIns="18288" tIns="18288" bIns="18288" anchor="t">
            <a:spAutoFit/>
          </a:bodyPr>
          <a:lstStyle/>
          <a:p>
            <a:pPr algn="l">
              <a:spcAft>
                <a:spcPts val="0"/>
              </a:spcAft>
            </a:pPr>
            <a:r>
              <a:rPr sz="1120" b="0" i="0">
                <a:solidFill>
                  <a:srgbClr val="B6C9BB"/>
                </a:solidFill>
                <a:latin typeface="Aptos"/>
              </a:rPr>
              <a:t>Each village begins with a different crisis, four measurable goals and a named environmental learning focus.</a:t>
            </a:r>
          </a:p>
        </p:txBody>
      </p:sp>
      <p:sp>
        <p:nvSpPr>
          <p:cNvPr id="5" name="TextBox 4"/>
          <p:cNvSpPr txBox="1"/>
          <p:nvPr/>
        </p:nvSpPr>
        <p:spPr>
          <a:xfrm>
            <a:off x="11265408" y="338328"/>
            <a:ext cx="438912" cy="274320"/>
          </a:xfrm>
          <a:prstGeom prst="rect">
            <a:avLst/>
          </a:prstGeom>
          <a:noFill/>
        </p:spPr>
        <p:txBody>
          <a:bodyPr wrap="square" lIns="18288" rIns="18288" tIns="18288" bIns="18288" anchor="t">
            <a:spAutoFit/>
          </a:bodyPr>
          <a:lstStyle/>
          <a:p>
            <a:pPr algn="r">
              <a:spcAft>
                <a:spcPts val="0"/>
              </a:spcAft>
            </a:pPr>
            <a:r>
              <a:rPr sz="1000" b="1" i="0">
                <a:solidFill>
                  <a:srgbClr val="A7E87D"/>
                </a:solidFill>
                <a:latin typeface="Aptos"/>
              </a:rPr>
              <a:t>07</a:t>
            </a:r>
          </a:p>
        </p:txBody>
      </p:sp>
      <p:sp>
        <p:nvSpPr>
          <p:cNvPr id="6" name="Rectangle 5"/>
          <p:cNvSpPr/>
          <p:nvPr/>
        </p:nvSpPr>
        <p:spPr>
          <a:xfrm>
            <a:off x="11804904" y="274320"/>
            <a:ext cx="27432" cy="502920"/>
          </a:xfrm>
          <a:prstGeom prst="rect">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84048" y="1271016"/>
            <a:ext cx="5440680" cy="3099816"/>
          </a:xfrm>
          <a:prstGeom prst="roundRect">
            <a:avLst/>
          </a:prstGeom>
          <a:solidFill>
            <a:srgbClr val="061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enario-list.png"/>
          <p:cNvPicPr>
            <a:picLocks noChangeAspect="1"/>
          </p:cNvPicPr>
          <p:nvPr/>
        </p:nvPicPr>
        <p:blipFill>
          <a:blip r:embed="rId2"/>
          <a:srcRect t="549" b="549"/>
          <a:stretch>
            <a:fillRect/>
          </a:stretch>
        </p:blipFill>
        <p:spPr>
          <a:xfrm>
            <a:off x="466344" y="1353312"/>
            <a:ext cx="5276088" cy="2935224"/>
          </a:xfrm>
          <a:prstGeom prst="rect">
            <a:avLst/>
          </a:prstGeom>
        </p:spPr>
      </p:pic>
      <p:sp>
        <p:nvSpPr>
          <p:cNvPr id="9" name="Rectangle 8"/>
          <p:cNvSpPr/>
          <p:nvPr/>
        </p:nvSpPr>
        <p:spPr>
          <a:xfrm>
            <a:off x="466344" y="1353312"/>
            <a:ext cx="5276088" cy="2935224"/>
          </a:xfrm>
          <a:prstGeom prst="rect">
            <a:avLst/>
          </a:prstGeom>
          <a:noFill/>
          <a:ln w="1651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7512" y="3913632"/>
            <a:ext cx="1261872" cy="246888"/>
          </a:xfrm>
          <a:prstGeom prst="roundRect">
            <a:avLst/>
          </a:prstGeom>
          <a:solidFill>
            <a:srgbClr val="0A281F"/>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977639"/>
            <a:ext cx="1261872" cy="91440"/>
          </a:xfrm>
          <a:prstGeom prst="rect">
            <a:avLst/>
          </a:prstGeom>
          <a:noFill/>
        </p:spPr>
        <p:txBody>
          <a:bodyPr wrap="square" lIns="18288" rIns="18288" tIns="18288" bIns="18288" anchor="t">
            <a:spAutoFit/>
          </a:bodyPr>
          <a:lstStyle/>
          <a:p>
            <a:pPr algn="ctr">
              <a:spcAft>
                <a:spcPts val="0"/>
              </a:spcAft>
            </a:pPr>
            <a:r>
              <a:rPr sz="680" b="1" i="0">
                <a:solidFill>
                  <a:srgbClr val="A7E87D"/>
                </a:solidFill>
                <a:latin typeface="Aptos"/>
              </a:rPr>
              <a:t>8 STARTING VILLAGES</a:t>
            </a:r>
          </a:p>
        </p:txBody>
      </p:sp>
      <p:sp>
        <p:nvSpPr>
          <p:cNvPr id="12" name="Rounded Rectangle 11"/>
          <p:cNvSpPr/>
          <p:nvPr/>
        </p:nvSpPr>
        <p:spPr>
          <a:xfrm>
            <a:off x="5961888" y="1271016"/>
            <a:ext cx="5751576" cy="3099816"/>
          </a:xfrm>
          <a:prstGeom prst="roundRect">
            <a:avLst/>
          </a:prstGeom>
          <a:solidFill>
            <a:srgbClr val="061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estoration-briefing.png"/>
          <p:cNvPicPr>
            <a:picLocks noChangeAspect="1"/>
          </p:cNvPicPr>
          <p:nvPr/>
        </p:nvPicPr>
        <p:blipFill>
          <a:blip r:embed="rId3"/>
          <a:srcRect t="3301" b="3301"/>
          <a:stretch>
            <a:fillRect/>
          </a:stretch>
        </p:blipFill>
        <p:spPr>
          <a:xfrm>
            <a:off x="6044184" y="1353312"/>
            <a:ext cx="5586984" cy="2935224"/>
          </a:xfrm>
          <a:prstGeom prst="rect">
            <a:avLst/>
          </a:prstGeom>
        </p:spPr>
      </p:pic>
      <p:sp>
        <p:nvSpPr>
          <p:cNvPr id="14" name="Rectangle 13"/>
          <p:cNvSpPr/>
          <p:nvPr/>
        </p:nvSpPr>
        <p:spPr>
          <a:xfrm>
            <a:off x="6044184" y="1353312"/>
            <a:ext cx="5586984" cy="2935224"/>
          </a:xfrm>
          <a:prstGeom prst="rect">
            <a:avLst/>
          </a:prstGeom>
          <a:noFill/>
          <a:ln w="1651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74936" y="3913632"/>
            <a:ext cx="1600200" cy="246888"/>
          </a:xfrm>
          <a:prstGeom prst="roundRect">
            <a:avLst/>
          </a:prstGeom>
          <a:solidFill>
            <a:srgbClr val="38251F"/>
          </a:solidFill>
          <a:ln w="10160">
            <a:solidFill>
              <a:srgbClr val="F47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74936" y="3977639"/>
            <a:ext cx="1600200" cy="91440"/>
          </a:xfrm>
          <a:prstGeom prst="rect">
            <a:avLst/>
          </a:prstGeom>
          <a:noFill/>
        </p:spPr>
        <p:txBody>
          <a:bodyPr wrap="square" lIns="18288" rIns="18288" tIns="18288" bIns="18288" anchor="t">
            <a:spAutoFit/>
          </a:bodyPr>
          <a:lstStyle/>
          <a:p>
            <a:pPr algn="ctr">
              <a:spcAft>
                <a:spcPts val="0"/>
              </a:spcAft>
            </a:pPr>
            <a:r>
              <a:rPr sz="660" b="1" i="0">
                <a:solidFill>
                  <a:srgbClr val="F47E70"/>
                </a:solidFill>
                <a:latin typeface="Aptos"/>
              </a:rPr>
              <a:t>RESTORATION BRIEFING</a:t>
            </a:r>
          </a:p>
        </p:txBody>
      </p:sp>
      <p:sp>
        <p:nvSpPr>
          <p:cNvPr id="17" name="Rounded Rectangle 16"/>
          <p:cNvSpPr/>
          <p:nvPr/>
        </p:nvSpPr>
        <p:spPr>
          <a:xfrm>
            <a:off x="475488" y="4626864"/>
            <a:ext cx="3621024" cy="1554480"/>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5488" y="4626864"/>
            <a:ext cx="3621024" cy="54864"/>
          </a:xfrm>
          <a:prstGeom prst="rect">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818888"/>
            <a:ext cx="3200400" cy="201168"/>
          </a:xfrm>
          <a:prstGeom prst="rect">
            <a:avLst/>
          </a:prstGeom>
          <a:noFill/>
        </p:spPr>
        <p:txBody>
          <a:bodyPr wrap="square" lIns="18288" rIns="18288" tIns="18288" bIns="18288" anchor="t">
            <a:spAutoFit/>
          </a:bodyPr>
          <a:lstStyle/>
          <a:p>
            <a:pPr algn="l">
              <a:spcAft>
                <a:spcPts val="0"/>
              </a:spcAft>
            </a:pPr>
            <a:r>
              <a:rPr sz="910" b="1" i="0">
                <a:solidFill>
                  <a:srgbClr val="A7E87D"/>
                </a:solidFill>
                <a:latin typeface="Aptos"/>
              </a:rPr>
              <a:t>FIVE CHALLENGE VILLAGES</a:t>
            </a:r>
          </a:p>
        </p:txBody>
      </p:sp>
      <p:sp>
        <p:nvSpPr>
          <p:cNvPr id="20" name="TextBox 19"/>
          <p:cNvSpPr txBox="1"/>
          <p:nvPr/>
        </p:nvSpPr>
        <p:spPr>
          <a:xfrm>
            <a:off x="658368" y="5111496"/>
            <a:ext cx="3200400" cy="850392"/>
          </a:xfrm>
          <a:prstGeom prst="rect">
            <a:avLst/>
          </a:prstGeom>
          <a:noFill/>
        </p:spPr>
        <p:txBody>
          <a:bodyPr wrap="square" lIns="18288" rIns="18288" tIns="18288" bIns="18288" anchor="t">
            <a:spAutoFit/>
          </a:bodyPr>
          <a:lstStyle/>
          <a:p>
            <a:pPr algn="l">
              <a:spcAft>
                <a:spcPts val="0"/>
              </a:spcAft>
            </a:pPr>
            <a:r>
              <a:rPr sz="930" b="0" i="0">
                <a:solidFill>
                  <a:srgbClr val="B6C9BB"/>
                </a:solidFill>
                <a:latin typeface="Aptos"/>
              </a:rPr>
              <a:t>Winter Watch · The Dry River · Timber Debt · Smoke Valley · The Green City
They test seasonal reserves, drought, renewable forestry, clean industry and dense sustainable growth.</a:t>
            </a:r>
          </a:p>
        </p:txBody>
      </p:sp>
      <p:sp>
        <p:nvSpPr>
          <p:cNvPr id="21" name="Rounded Rectangle 20"/>
          <p:cNvSpPr/>
          <p:nvPr/>
        </p:nvSpPr>
        <p:spPr>
          <a:xfrm>
            <a:off x="4279392" y="4626864"/>
            <a:ext cx="3621024" cy="1554480"/>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79392" y="4626864"/>
            <a:ext cx="3621024" cy="54864"/>
          </a:xfrm>
          <a:prstGeom prst="rect">
            <a:avLst/>
          </a:prstGeom>
          <a:solidFill>
            <a:srgbClr val="F47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62272" y="4818888"/>
            <a:ext cx="3200400" cy="201168"/>
          </a:xfrm>
          <a:prstGeom prst="rect">
            <a:avLst/>
          </a:prstGeom>
          <a:noFill/>
        </p:spPr>
        <p:txBody>
          <a:bodyPr wrap="square" lIns="18288" rIns="18288" tIns="18288" bIns="18288" anchor="t">
            <a:spAutoFit/>
          </a:bodyPr>
          <a:lstStyle/>
          <a:p>
            <a:pPr algn="l">
              <a:spcAft>
                <a:spcPts val="0"/>
              </a:spcAft>
            </a:pPr>
            <a:r>
              <a:rPr sz="910" b="1" i="0">
                <a:solidFill>
                  <a:srgbClr val="F47E70"/>
                </a:solidFill>
                <a:latin typeface="Aptos"/>
              </a:rPr>
              <a:t>THREE ACTIVE EMERGENCIES</a:t>
            </a:r>
          </a:p>
        </p:txBody>
      </p:sp>
      <p:sp>
        <p:nvSpPr>
          <p:cNvPr id="24" name="TextBox 23"/>
          <p:cNvSpPr txBox="1"/>
          <p:nvPr/>
        </p:nvSpPr>
        <p:spPr>
          <a:xfrm>
            <a:off x="4462272" y="5111496"/>
            <a:ext cx="3200400" cy="850392"/>
          </a:xfrm>
          <a:prstGeom prst="rect">
            <a:avLst/>
          </a:prstGeom>
          <a:noFill/>
        </p:spPr>
        <p:txBody>
          <a:bodyPr wrap="square" lIns="18288" rIns="18288" tIns="18288" bIns="18288" anchor="t">
            <a:spAutoFit/>
          </a:bodyPr>
          <a:lstStyle/>
          <a:p>
            <a:pPr algn="l">
              <a:spcAft>
                <a:spcPts val="0"/>
              </a:spcAft>
            </a:pPr>
            <a:r>
              <a:rPr sz="930" b="0" i="0">
                <a:solidFill>
                  <a:srgbClr val="B6C9BB"/>
                </a:solidFill>
                <a:latin typeface="Aptos"/>
              </a:rPr>
              <a:t>After the Fire · The Poisoned River · The Silent Fields
Each starts below 40% and loses 1.0 ecosystem point/day until its containment actions are completed.</a:t>
            </a:r>
          </a:p>
        </p:txBody>
      </p:sp>
      <p:sp>
        <p:nvSpPr>
          <p:cNvPr id="25" name="Rounded Rectangle 24"/>
          <p:cNvSpPr/>
          <p:nvPr/>
        </p:nvSpPr>
        <p:spPr>
          <a:xfrm>
            <a:off x="8083296" y="4626864"/>
            <a:ext cx="3621024" cy="1554480"/>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83296" y="4626864"/>
            <a:ext cx="3621024" cy="54864"/>
          </a:xfrm>
          <a:prstGeom prst="rect">
            <a:avLst/>
          </a:prstGeom>
          <a:solidFill>
            <a:srgbClr val="6FC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6175" y="4818888"/>
            <a:ext cx="3200400" cy="201168"/>
          </a:xfrm>
          <a:prstGeom prst="rect">
            <a:avLst/>
          </a:prstGeom>
          <a:noFill/>
        </p:spPr>
        <p:txBody>
          <a:bodyPr wrap="square" lIns="18288" rIns="18288" tIns="18288" bIns="18288" anchor="t">
            <a:spAutoFit/>
          </a:bodyPr>
          <a:lstStyle/>
          <a:p>
            <a:pPr algn="l">
              <a:spcAft>
                <a:spcPts val="0"/>
              </a:spcAft>
            </a:pPr>
            <a:r>
              <a:rPr sz="910" b="1" i="0">
                <a:solidFill>
                  <a:srgbClr val="6FC3D5"/>
                </a:solidFill>
                <a:latin typeface="Aptos"/>
              </a:rPr>
              <a:t>DYNAMIC RISK</a:t>
            </a:r>
          </a:p>
        </p:txBody>
      </p:sp>
      <p:sp>
        <p:nvSpPr>
          <p:cNvPr id="28" name="TextBox 27"/>
          <p:cNvSpPr txBox="1"/>
          <p:nvPr/>
        </p:nvSpPr>
        <p:spPr>
          <a:xfrm>
            <a:off x="8266175" y="5111496"/>
            <a:ext cx="3200400" cy="850392"/>
          </a:xfrm>
          <a:prstGeom prst="rect">
            <a:avLst/>
          </a:prstGeom>
          <a:noFill/>
        </p:spPr>
        <p:txBody>
          <a:bodyPr wrap="square" lIns="18288" rIns="18288" tIns="18288" bIns="18288" anchor="t">
            <a:spAutoFit/>
          </a:bodyPr>
          <a:lstStyle/>
          <a:p>
            <a:pPr algn="l">
              <a:spcAft>
                <a:spcPts val="0"/>
              </a:spcAft>
            </a:pPr>
            <a:r>
              <a:rPr sz="930" b="0" i="0">
                <a:solidFill>
                  <a:srgbClr val="B6C9BB"/>
                </a:solidFill>
                <a:latin typeface="Aptos"/>
              </a:rPr>
              <a:t>Weather ranges from ~2-hour thunderstorms and ~12-hour rain to 3-day heatwaves, 4-day cloud systems and 7-day droughts. Random events arrive every ⅓–7 days.</a:t>
            </a:r>
          </a:p>
        </p:txBody>
      </p:sp>
      <p:sp>
        <p:nvSpPr>
          <p:cNvPr id="29" name="Rectangle 28"/>
          <p:cNvSpPr/>
          <p:nvPr/>
        </p:nvSpPr>
        <p:spPr>
          <a:xfrm>
            <a:off x="475488" y="6556248"/>
            <a:ext cx="11237976" cy="10972"/>
          </a:xfrm>
          <a:prstGeom prst="rect">
            <a:avLst/>
          </a:prstGeom>
          <a:solidFill>
            <a:srgbClr val="2B5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 y="6592824"/>
            <a:ext cx="6583680" cy="164592"/>
          </a:xfrm>
          <a:prstGeom prst="rect">
            <a:avLst/>
          </a:prstGeom>
          <a:noFill/>
        </p:spPr>
        <p:txBody>
          <a:bodyPr wrap="square" lIns="18288" rIns="18288" tIns="18288" bIns="18288" anchor="t">
            <a:spAutoFit/>
          </a:bodyPr>
          <a:lstStyle/>
          <a:p>
            <a:pPr algn="l">
              <a:spcAft>
                <a:spcPts val="0"/>
              </a:spcAft>
            </a:pPr>
            <a:r>
              <a:rPr sz="750" b="1" i="0">
                <a:solidFill>
                  <a:srgbClr val="7F9B89"/>
                </a:solidFill>
                <a:latin typeface="Aptos"/>
              </a:rPr>
              <a:t>WILDROOT VILLAGE · ECOSYSTEM VILLAGE PROJECT</a:t>
            </a:r>
          </a:p>
        </p:txBody>
      </p:sp>
      <p:sp>
        <p:nvSpPr>
          <p:cNvPr id="31" name="TextBox 30"/>
          <p:cNvSpPr txBox="1"/>
          <p:nvPr/>
        </p:nvSpPr>
        <p:spPr>
          <a:xfrm>
            <a:off x="11384280" y="6574536"/>
            <a:ext cx="320040" cy="164592"/>
          </a:xfrm>
          <a:prstGeom prst="rect">
            <a:avLst/>
          </a:prstGeom>
          <a:noFill/>
        </p:spPr>
        <p:txBody>
          <a:bodyPr wrap="square" lIns="18288" rIns="18288" tIns="18288" bIns="18288" anchor="t">
            <a:spAutoFit/>
          </a:bodyPr>
          <a:lstStyle/>
          <a:p>
            <a:pPr algn="r">
              <a:spcAft>
                <a:spcPts val="0"/>
              </a:spcAft>
            </a:pPr>
            <a:r>
              <a:rPr sz="850" b="1" i="0">
                <a:solidFill>
                  <a:srgbClr val="7F9B89"/>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F18"/>
        </a:solidFill>
        <a:effectLst/>
      </p:bgPr>
    </p:bg>
    <p:spTree>
      <p:nvGrpSpPr>
        <p:cNvPr id="1" name=""/>
        <p:cNvGrpSpPr/>
        <p:nvPr/>
      </p:nvGrpSpPr>
      <p:grpSpPr/>
      <p:sp>
        <p:nvSpPr>
          <p:cNvPr id="2" name="TextBox 1"/>
          <p:cNvSpPr txBox="1"/>
          <p:nvPr/>
        </p:nvSpPr>
        <p:spPr>
          <a:xfrm>
            <a:off x="475488" y="256032"/>
            <a:ext cx="530352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LEARNING, PROGRESSION AND SUCCESS</a:t>
            </a:r>
          </a:p>
        </p:txBody>
      </p:sp>
      <p:sp>
        <p:nvSpPr>
          <p:cNvPr id="3" name="TextBox 2"/>
          <p:cNvSpPr txBox="1"/>
          <p:nvPr/>
        </p:nvSpPr>
        <p:spPr>
          <a:xfrm>
            <a:off x="475488" y="493776"/>
            <a:ext cx="10698480" cy="475488"/>
          </a:xfrm>
          <a:prstGeom prst="rect">
            <a:avLst/>
          </a:prstGeom>
          <a:noFill/>
        </p:spPr>
        <p:txBody>
          <a:bodyPr wrap="square" lIns="18288" rIns="18288" tIns="18288" bIns="18288" anchor="t">
            <a:spAutoFit/>
          </a:bodyPr>
          <a:lstStyle/>
          <a:p>
            <a:pPr algn="l">
              <a:spcAft>
                <a:spcPts val="0"/>
              </a:spcAft>
            </a:pPr>
            <a:r>
              <a:rPr sz="2800" b="1" i="0">
                <a:solidFill>
                  <a:srgbClr val="F3F1D5"/>
                </a:solidFill>
                <a:latin typeface="Georgia"/>
              </a:rPr>
              <a:t>Learning is built into the decisions</a:t>
            </a:r>
          </a:p>
        </p:txBody>
      </p:sp>
      <p:sp>
        <p:nvSpPr>
          <p:cNvPr id="4" name="TextBox 3"/>
          <p:cNvSpPr txBox="1"/>
          <p:nvPr/>
        </p:nvSpPr>
        <p:spPr>
          <a:xfrm>
            <a:off x="493776" y="932688"/>
            <a:ext cx="10607040" cy="292608"/>
          </a:xfrm>
          <a:prstGeom prst="rect">
            <a:avLst/>
          </a:prstGeom>
          <a:noFill/>
        </p:spPr>
        <p:txBody>
          <a:bodyPr wrap="square" lIns="18288" rIns="18288" tIns="18288" bIns="18288" anchor="t">
            <a:spAutoFit/>
          </a:bodyPr>
          <a:lstStyle/>
          <a:p>
            <a:pPr algn="l">
              <a:spcAft>
                <a:spcPts val="0"/>
              </a:spcAft>
            </a:pPr>
            <a:r>
              <a:rPr sz="1120" b="0" i="0">
                <a:solidFill>
                  <a:srgbClr val="B6C9BB"/>
                </a:solidFill>
                <a:latin typeface="Aptos"/>
              </a:rPr>
              <a:t>Players learn by observing consequences, testing ideas and explaining what the model leaves out.</a:t>
            </a:r>
          </a:p>
        </p:txBody>
      </p:sp>
      <p:sp>
        <p:nvSpPr>
          <p:cNvPr id="5" name="TextBox 4"/>
          <p:cNvSpPr txBox="1"/>
          <p:nvPr/>
        </p:nvSpPr>
        <p:spPr>
          <a:xfrm>
            <a:off x="11265408" y="338328"/>
            <a:ext cx="438912" cy="274320"/>
          </a:xfrm>
          <a:prstGeom prst="rect">
            <a:avLst/>
          </a:prstGeom>
          <a:noFill/>
        </p:spPr>
        <p:txBody>
          <a:bodyPr wrap="square" lIns="18288" rIns="18288" tIns="18288" bIns="18288" anchor="t">
            <a:spAutoFit/>
          </a:bodyPr>
          <a:lstStyle/>
          <a:p>
            <a:pPr algn="r">
              <a:spcAft>
                <a:spcPts val="0"/>
              </a:spcAft>
            </a:pPr>
            <a:r>
              <a:rPr sz="1000" b="1" i="0">
                <a:solidFill>
                  <a:srgbClr val="A7E87D"/>
                </a:solidFill>
                <a:latin typeface="Aptos"/>
              </a:rPr>
              <a:t>08</a:t>
            </a:r>
          </a:p>
        </p:txBody>
      </p:sp>
      <p:sp>
        <p:nvSpPr>
          <p:cNvPr id="6" name="Rectangle 5"/>
          <p:cNvSpPr/>
          <p:nvPr/>
        </p:nvSpPr>
        <p:spPr>
          <a:xfrm>
            <a:off x="11804904" y="274320"/>
            <a:ext cx="27432" cy="502920"/>
          </a:xfrm>
          <a:prstGeom prst="rect">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5488" y="1344168"/>
            <a:ext cx="4215384" cy="4233672"/>
          </a:xfrm>
          <a:prstGeom prst="roundRect">
            <a:avLst/>
          </a:prstGeom>
          <a:solidFill>
            <a:srgbClr val="10372A"/>
          </a:solidFill>
          <a:ln w="1016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563624"/>
            <a:ext cx="2468880" cy="237744"/>
          </a:xfrm>
          <a:prstGeom prst="rect">
            <a:avLst/>
          </a:prstGeom>
          <a:noFill/>
        </p:spPr>
        <p:txBody>
          <a:bodyPr wrap="square" lIns="18288" rIns="18288" tIns="18288" bIns="18288" anchor="t">
            <a:spAutoFit/>
          </a:bodyPr>
          <a:lstStyle/>
          <a:p>
            <a:pPr algn="l">
              <a:spcAft>
                <a:spcPts val="0"/>
              </a:spcAft>
            </a:pPr>
            <a:r>
              <a:rPr sz="950" b="1" i="0">
                <a:solidFill>
                  <a:srgbClr val="A7E87D"/>
                </a:solidFill>
                <a:latin typeface="Aptos"/>
              </a:rPr>
              <a:t>THE LEARNING LAYER</a:t>
            </a:r>
          </a:p>
        </p:txBody>
      </p:sp>
      <p:sp>
        <p:nvSpPr>
          <p:cNvPr id="9" name="Oval 8"/>
          <p:cNvSpPr/>
          <p:nvPr/>
        </p:nvSpPr>
        <p:spPr>
          <a:xfrm>
            <a:off x="713232" y="1911095"/>
            <a:ext cx="265176" cy="265176"/>
          </a:xfrm>
          <a:prstGeom prst="ellipse">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961388"/>
            <a:ext cx="265176" cy="91440"/>
          </a:xfrm>
          <a:prstGeom prst="rect">
            <a:avLst/>
          </a:prstGeom>
          <a:noFill/>
        </p:spPr>
        <p:txBody>
          <a:bodyPr wrap="square" lIns="18288" rIns="18288" tIns="18288" bIns="18288" anchor="t">
            <a:spAutoFit/>
          </a:bodyPr>
          <a:lstStyle/>
          <a:p>
            <a:pPr algn="ctr">
              <a:spcAft>
                <a:spcPts val="0"/>
              </a:spcAft>
            </a:pPr>
            <a:r>
              <a:rPr sz="700" b="1" i="0">
                <a:solidFill>
                  <a:srgbClr val="071F18"/>
                </a:solidFill>
                <a:latin typeface="Aptos"/>
              </a:rPr>
              <a:t>1</a:t>
            </a:r>
          </a:p>
        </p:txBody>
      </p:sp>
      <p:sp>
        <p:nvSpPr>
          <p:cNvPr id="11" name="TextBox 10"/>
          <p:cNvSpPr txBox="1"/>
          <p:nvPr/>
        </p:nvSpPr>
        <p:spPr>
          <a:xfrm>
            <a:off x="1078992" y="1874519"/>
            <a:ext cx="3291840" cy="493776"/>
          </a:xfrm>
          <a:prstGeom prst="rect">
            <a:avLst/>
          </a:prstGeom>
          <a:noFill/>
        </p:spPr>
        <p:txBody>
          <a:bodyPr wrap="square" lIns="9144" rIns="9144" tIns="9144" bIns="9144" anchor="t">
            <a:spAutoFit/>
          </a:bodyPr>
          <a:lstStyle/>
          <a:p>
            <a:pPr algn="l">
              <a:lnSpc>
                <a:spcPct val="100000"/>
              </a:lnSpc>
              <a:spcBef>
                <a:spcPts val="0"/>
              </a:spcBef>
              <a:spcAft>
                <a:spcPts val="0"/>
              </a:spcAft>
            </a:pPr>
            <a:r>
              <a:rPr sz="1040" b="1" i="0">
                <a:solidFill>
                  <a:srgbClr val="F3F1D5"/>
                </a:solidFill>
                <a:latin typeface="Aptos"/>
              </a:rPr>
              <a:t>20 field missions — </a:t>
            </a:r>
            <a:r>
              <a:rPr sz="950" b="0" i="0">
                <a:solidFill>
                  <a:srgbClr val="B6C9BB"/>
                </a:solidFill>
                <a:latin typeface="Aptos"/>
              </a:rPr>
              <a:t>demonstrate principles through normal gameplay; every lesson links to a real-world example.</a:t>
            </a:r>
          </a:p>
        </p:txBody>
      </p:sp>
      <p:sp>
        <p:nvSpPr>
          <p:cNvPr id="12" name="Oval 11"/>
          <p:cNvSpPr/>
          <p:nvPr/>
        </p:nvSpPr>
        <p:spPr>
          <a:xfrm>
            <a:off x="713232" y="2569464"/>
            <a:ext cx="265176" cy="265176"/>
          </a:xfrm>
          <a:prstGeom prst="ellipse">
            <a:avLst/>
          </a:prstGeom>
          <a:solidFill>
            <a:srgbClr val="E4C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619756"/>
            <a:ext cx="265176" cy="91440"/>
          </a:xfrm>
          <a:prstGeom prst="rect">
            <a:avLst/>
          </a:prstGeom>
          <a:noFill/>
        </p:spPr>
        <p:txBody>
          <a:bodyPr wrap="square" lIns="18288" rIns="18288" tIns="18288" bIns="18288" anchor="t">
            <a:spAutoFit/>
          </a:bodyPr>
          <a:lstStyle/>
          <a:p>
            <a:pPr algn="ctr">
              <a:spcAft>
                <a:spcPts val="0"/>
              </a:spcAft>
            </a:pPr>
            <a:r>
              <a:rPr sz="700" b="1" i="0">
                <a:solidFill>
                  <a:srgbClr val="071F18"/>
                </a:solidFill>
                <a:latin typeface="Aptos"/>
              </a:rPr>
              <a:t>2</a:t>
            </a:r>
          </a:p>
        </p:txBody>
      </p:sp>
      <p:sp>
        <p:nvSpPr>
          <p:cNvPr id="14" name="TextBox 13"/>
          <p:cNvSpPr txBox="1"/>
          <p:nvPr/>
        </p:nvSpPr>
        <p:spPr>
          <a:xfrm>
            <a:off x="1078992" y="2532888"/>
            <a:ext cx="3291840" cy="493776"/>
          </a:xfrm>
          <a:prstGeom prst="rect">
            <a:avLst/>
          </a:prstGeom>
          <a:noFill/>
        </p:spPr>
        <p:txBody>
          <a:bodyPr wrap="square" lIns="9144" rIns="9144" tIns="9144" bIns="9144" anchor="t">
            <a:spAutoFit/>
          </a:bodyPr>
          <a:lstStyle/>
          <a:p>
            <a:pPr algn="l">
              <a:lnSpc>
                <a:spcPct val="100000"/>
              </a:lnSpc>
              <a:spcBef>
                <a:spcPts val="0"/>
              </a:spcBef>
              <a:spcAft>
                <a:spcPts val="0"/>
              </a:spcAft>
            </a:pPr>
            <a:r>
              <a:rPr sz="1040" b="1" i="0">
                <a:solidFill>
                  <a:srgbClr val="F3F1D5"/>
                </a:solidFill>
                <a:latin typeface="Aptos"/>
              </a:rPr>
              <a:t>22 knowledge checks — </a:t>
            </a:r>
            <a:r>
              <a:rPr sz="950" b="0" i="0">
                <a:solidFill>
                  <a:srgbClr val="B6C9BB"/>
                </a:solidFill>
                <a:latin typeface="Aptos"/>
              </a:rPr>
              <a:t>pause time, explain correct and incorrect answers, and give no resource reward or penalty.</a:t>
            </a:r>
          </a:p>
        </p:txBody>
      </p:sp>
      <p:sp>
        <p:nvSpPr>
          <p:cNvPr id="15" name="Oval 14"/>
          <p:cNvSpPr/>
          <p:nvPr/>
        </p:nvSpPr>
        <p:spPr>
          <a:xfrm>
            <a:off x="713232" y="3227832"/>
            <a:ext cx="265176" cy="265176"/>
          </a:xfrm>
          <a:prstGeom prst="ellipse">
            <a:avLst/>
          </a:prstGeom>
          <a:solidFill>
            <a:srgbClr val="6FC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278124"/>
            <a:ext cx="265176" cy="91440"/>
          </a:xfrm>
          <a:prstGeom prst="rect">
            <a:avLst/>
          </a:prstGeom>
          <a:noFill/>
        </p:spPr>
        <p:txBody>
          <a:bodyPr wrap="square" lIns="18288" rIns="18288" tIns="18288" bIns="18288" anchor="t">
            <a:spAutoFit/>
          </a:bodyPr>
          <a:lstStyle/>
          <a:p>
            <a:pPr algn="ctr">
              <a:spcAft>
                <a:spcPts val="0"/>
              </a:spcAft>
            </a:pPr>
            <a:r>
              <a:rPr sz="700" b="1" i="0">
                <a:solidFill>
                  <a:srgbClr val="071F18"/>
                </a:solidFill>
                <a:latin typeface="Aptos"/>
              </a:rPr>
              <a:t>3</a:t>
            </a:r>
          </a:p>
        </p:txBody>
      </p:sp>
      <p:sp>
        <p:nvSpPr>
          <p:cNvPr id="17" name="TextBox 16"/>
          <p:cNvSpPr txBox="1"/>
          <p:nvPr/>
        </p:nvSpPr>
        <p:spPr>
          <a:xfrm>
            <a:off x="1078992" y="3191256"/>
            <a:ext cx="3291840" cy="493776"/>
          </a:xfrm>
          <a:prstGeom prst="rect">
            <a:avLst/>
          </a:prstGeom>
          <a:noFill/>
        </p:spPr>
        <p:txBody>
          <a:bodyPr wrap="square" lIns="9144" rIns="9144" tIns="9144" bIns="9144" anchor="t">
            <a:spAutoFit/>
          </a:bodyPr>
          <a:lstStyle/>
          <a:p>
            <a:pPr algn="l">
              <a:lnSpc>
                <a:spcPct val="100000"/>
              </a:lnSpc>
              <a:spcBef>
                <a:spcPts val="0"/>
              </a:spcBef>
              <a:spcAft>
                <a:spcPts val="0"/>
              </a:spcAft>
            </a:pPr>
            <a:r>
              <a:rPr sz="1040" b="1" i="0">
                <a:solidFill>
                  <a:srgbClr val="F3F1D5"/>
                </a:solidFill>
                <a:latin typeface="Aptos"/>
              </a:rPr>
              <a:t>Learning everywhere — </a:t>
            </a:r>
            <a:r>
              <a:rPr sz="950" b="0" i="0">
                <a:solidFill>
                  <a:srgbClr val="B6C9BB"/>
                </a:solidFill>
                <a:latin typeface="Aptos"/>
              </a:rPr>
              <a:t>Eco Coach advice, building inspections, events and scenario briefings all include a learning lens.</a:t>
            </a:r>
          </a:p>
        </p:txBody>
      </p:sp>
      <p:sp>
        <p:nvSpPr>
          <p:cNvPr id="18" name="Oval 17"/>
          <p:cNvSpPr/>
          <p:nvPr/>
        </p:nvSpPr>
        <p:spPr>
          <a:xfrm>
            <a:off x="713232" y="3886199"/>
            <a:ext cx="265176" cy="265176"/>
          </a:xfrm>
          <a:prstGeom prst="ellipse">
            <a:avLst/>
          </a:prstGeom>
          <a:solidFill>
            <a:srgbClr val="C79A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936491"/>
            <a:ext cx="265176" cy="91440"/>
          </a:xfrm>
          <a:prstGeom prst="rect">
            <a:avLst/>
          </a:prstGeom>
          <a:noFill/>
        </p:spPr>
        <p:txBody>
          <a:bodyPr wrap="square" lIns="18288" rIns="18288" tIns="18288" bIns="18288" anchor="t">
            <a:spAutoFit/>
          </a:bodyPr>
          <a:lstStyle/>
          <a:p>
            <a:pPr algn="ctr">
              <a:spcAft>
                <a:spcPts val="0"/>
              </a:spcAft>
            </a:pPr>
            <a:r>
              <a:rPr sz="700" b="1" i="0">
                <a:solidFill>
                  <a:srgbClr val="071F18"/>
                </a:solidFill>
                <a:latin typeface="Aptos"/>
              </a:rPr>
              <a:t>4</a:t>
            </a:r>
          </a:p>
        </p:txBody>
      </p:sp>
      <p:sp>
        <p:nvSpPr>
          <p:cNvPr id="20" name="TextBox 19"/>
          <p:cNvSpPr txBox="1"/>
          <p:nvPr/>
        </p:nvSpPr>
        <p:spPr>
          <a:xfrm>
            <a:off x="1078992" y="3849624"/>
            <a:ext cx="3291840" cy="493776"/>
          </a:xfrm>
          <a:prstGeom prst="rect">
            <a:avLst/>
          </a:prstGeom>
          <a:noFill/>
        </p:spPr>
        <p:txBody>
          <a:bodyPr wrap="square" lIns="9144" rIns="9144" tIns="9144" bIns="9144" anchor="t">
            <a:spAutoFit/>
          </a:bodyPr>
          <a:lstStyle/>
          <a:p>
            <a:pPr algn="l">
              <a:lnSpc>
                <a:spcPct val="100000"/>
              </a:lnSpc>
              <a:spcBef>
                <a:spcPts val="0"/>
              </a:spcBef>
              <a:spcAft>
                <a:spcPts val="0"/>
              </a:spcAft>
            </a:pPr>
            <a:r>
              <a:rPr sz="1040" b="1" i="0">
                <a:solidFill>
                  <a:srgbClr val="F3F1D5"/>
                </a:solidFill>
                <a:latin typeface="Aptos"/>
              </a:rPr>
              <a:t>Model literacy — </a:t>
            </a:r>
            <a:r>
              <a:rPr sz="950" b="0" i="0">
                <a:solidFill>
                  <a:srgbClr val="B6C9BB"/>
                </a:solidFill>
                <a:latin typeface="Aptos"/>
              </a:rPr>
              <a:t>the game names its simplifications and points to field evidence, local and Indigenous knowledge and uncertainty.</a:t>
            </a:r>
          </a:p>
        </p:txBody>
      </p:sp>
      <p:sp>
        <p:nvSpPr>
          <p:cNvPr id="21" name="Oval 20"/>
          <p:cNvSpPr/>
          <p:nvPr/>
        </p:nvSpPr>
        <p:spPr>
          <a:xfrm>
            <a:off x="713232" y="4544567"/>
            <a:ext cx="265176" cy="265176"/>
          </a:xfrm>
          <a:prstGeom prst="ellipse">
            <a:avLst/>
          </a:prstGeom>
          <a:solidFill>
            <a:srgbClr val="A7E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4594859"/>
            <a:ext cx="265176" cy="91440"/>
          </a:xfrm>
          <a:prstGeom prst="rect">
            <a:avLst/>
          </a:prstGeom>
          <a:noFill/>
        </p:spPr>
        <p:txBody>
          <a:bodyPr wrap="square" lIns="18288" rIns="18288" tIns="18288" bIns="18288" anchor="t">
            <a:spAutoFit/>
          </a:bodyPr>
          <a:lstStyle/>
          <a:p>
            <a:pPr algn="ctr">
              <a:spcAft>
                <a:spcPts val="0"/>
              </a:spcAft>
            </a:pPr>
            <a:r>
              <a:rPr sz="700" b="1" i="0">
                <a:solidFill>
                  <a:srgbClr val="071F18"/>
                </a:solidFill>
                <a:latin typeface="Aptos"/>
              </a:rPr>
              <a:t>5</a:t>
            </a:r>
          </a:p>
        </p:txBody>
      </p:sp>
      <p:sp>
        <p:nvSpPr>
          <p:cNvPr id="23" name="TextBox 22"/>
          <p:cNvSpPr txBox="1"/>
          <p:nvPr/>
        </p:nvSpPr>
        <p:spPr>
          <a:xfrm>
            <a:off x="1078992" y="4507992"/>
            <a:ext cx="3291840" cy="493776"/>
          </a:xfrm>
          <a:prstGeom prst="rect">
            <a:avLst/>
          </a:prstGeom>
          <a:noFill/>
        </p:spPr>
        <p:txBody>
          <a:bodyPr wrap="square" lIns="9144" rIns="9144" tIns="9144" bIns="9144" anchor="t">
            <a:spAutoFit/>
          </a:bodyPr>
          <a:lstStyle/>
          <a:p>
            <a:pPr algn="l">
              <a:lnSpc>
                <a:spcPct val="100000"/>
              </a:lnSpc>
              <a:spcBef>
                <a:spcPts val="0"/>
              </a:spcBef>
              <a:spcAft>
                <a:spcPts val="0"/>
              </a:spcAft>
            </a:pPr>
            <a:r>
              <a:rPr sz="1040" b="1" i="0">
                <a:solidFill>
                  <a:srgbClr val="F3F1D5"/>
                </a:solidFill>
                <a:latin typeface="Aptos"/>
              </a:rPr>
              <a:t>Saved progression — </a:t>
            </a:r>
            <a:r>
              <a:rPr sz="950" b="0" i="0">
                <a:solidFill>
                  <a:srgbClr val="B6C9BB"/>
                </a:solidFill>
                <a:latin typeface="Aptos"/>
              </a:rPr>
              <a:t>learning and achievements persist locally with the current village.</a:t>
            </a:r>
          </a:p>
        </p:txBody>
      </p:sp>
      <p:sp>
        <p:nvSpPr>
          <p:cNvPr id="24" name="Rounded Rectangle 23"/>
          <p:cNvSpPr/>
          <p:nvPr/>
        </p:nvSpPr>
        <p:spPr>
          <a:xfrm>
            <a:off x="475488" y="5742432"/>
            <a:ext cx="4215384" cy="512064"/>
          </a:xfrm>
          <a:prstGeom prst="roundRect">
            <a:avLst/>
          </a:prstGeom>
          <a:solidFill>
            <a:srgbClr val="0A281F"/>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843016"/>
            <a:ext cx="1060704" cy="137160"/>
          </a:xfrm>
          <a:prstGeom prst="rect">
            <a:avLst/>
          </a:prstGeom>
          <a:noFill/>
        </p:spPr>
        <p:txBody>
          <a:bodyPr wrap="square" lIns="18288" rIns="18288" tIns="18288" bIns="18288" anchor="t">
            <a:spAutoFit/>
          </a:bodyPr>
          <a:lstStyle/>
          <a:p>
            <a:pPr algn="l">
              <a:spcAft>
                <a:spcPts val="0"/>
              </a:spcAft>
            </a:pPr>
            <a:r>
              <a:rPr sz="780" b="1" i="0">
                <a:solidFill>
                  <a:srgbClr val="A7E87D"/>
                </a:solidFill>
                <a:latin typeface="Aptos"/>
              </a:rPr>
              <a:t>FINAL CHAPTER</a:t>
            </a:r>
          </a:p>
        </p:txBody>
      </p:sp>
      <p:sp>
        <p:nvSpPr>
          <p:cNvPr id="26" name="TextBox 25"/>
          <p:cNvSpPr txBox="1"/>
          <p:nvPr/>
        </p:nvSpPr>
        <p:spPr>
          <a:xfrm>
            <a:off x="1792224" y="5833872"/>
            <a:ext cx="2670048" cy="219456"/>
          </a:xfrm>
          <a:prstGeom prst="rect">
            <a:avLst/>
          </a:prstGeom>
          <a:noFill/>
        </p:spPr>
        <p:txBody>
          <a:bodyPr wrap="square" lIns="18288" rIns="18288" tIns="18288" bIns="18288" anchor="t">
            <a:spAutoFit/>
          </a:bodyPr>
          <a:lstStyle/>
          <a:p>
            <a:pPr algn="l">
              <a:spcAft>
                <a:spcPts val="0"/>
              </a:spcAft>
            </a:pPr>
            <a:r>
              <a:rPr sz="800" b="1" i="0">
                <a:solidFill>
                  <a:srgbClr val="F3F1D5"/>
                </a:solidFill>
                <a:latin typeface="Aptos"/>
              </a:rPr>
              <a:t>Day 100  ·  nature buildings  ·  every indicator 90+  ·  100% ecosystem</a:t>
            </a:r>
          </a:p>
        </p:txBody>
      </p:sp>
      <p:sp>
        <p:nvSpPr>
          <p:cNvPr id="27" name="Rounded Rectangle 26"/>
          <p:cNvSpPr/>
          <p:nvPr/>
        </p:nvSpPr>
        <p:spPr>
          <a:xfrm>
            <a:off x="4956048" y="1271016"/>
            <a:ext cx="6757416" cy="3364992"/>
          </a:xfrm>
          <a:prstGeom prst="roundRect">
            <a:avLst/>
          </a:prstGeom>
          <a:solidFill>
            <a:srgbClr val="061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ield-guide.png"/>
          <p:cNvPicPr>
            <a:picLocks noChangeAspect="1"/>
          </p:cNvPicPr>
          <p:nvPr/>
        </p:nvPicPr>
        <p:blipFill>
          <a:blip r:embed="rId2"/>
          <a:srcRect t="6850" b="6850"/>
          <a:stretch>
            <a:fillRect/>
          </a:stretch>
        </p:blipFill>
        <p:spPr>
          <a:xfrm>
            <a:off x="5038344" y="1353312"/>
            <a:ext cx="6592824" cy="3200400"/>
          </a:xfrm>
          <a:prstGeom prst="rect">
            <a:avLst/>
          </a:prstGeom>
        </p:spPr>
      </p:pic>
      <p:sp>
        <p:nvSpPr>
          <p:cNvPr id="29" name="Rectangle 28"/>
          <p:cNvSpPr/>
          <p:nvPr/>
        </p:nvSpPr>
        <p:spPr>
          <a:xfrm>
            <a:off x="5038344" y="1353312"/>
            <a:ext cx="6592824" cy="3200400"/>
          </a:xfrm>
          <a:prstGeom prst="rect">
            <a:avLst/>
          </a:prstGeom>
          <a:noFill/>
          <a:ln w="1651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230368" y="4178808"/>
            <a:ext cx="1307592" cy="246888"/>
          </a:xfrm>
          <a:prstGeom prst="roundRect">
            <a:avLst/>
          </a:prstGeom>
          <a:solidFill>
            <a:srgbClr val="0A281F"/>
          </a:solidFill>
          <a:ln w="10160">
            <a:solidFill>
              <a:srgbClr val="A7E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30368" y="4242816"/>
            <a:ext cx="1307592" cy="91440"/>
          </a:xfrm>
          <a:prstGeom prst="rect">
            <a:avLst/>
          </a:prstGeom>
          <a:noFill/>
        </p:spPr>
        <p:txBody>
          <a:bodyPr wrap="square" lIns="18288" rIns="18288" tIns="18288" bIns="18288" anchor="t">
            <a:spAutoFit/>
          </a:bodyPr>
          <a:lstStyle/>
          <a:p>
            <a:pPr algn="ctr">
              <a:spcAft>
                <a:spcPts val="0"/>
              </a:spcAft>
            </a:pPr>
            <a:r>
              <a:rPr sz="690" b="1" i="0">
                <a:solidFill>
                  <a:srgbClr val="A7E87D"/>
                </a:solidFill>
                <a:latin typeface="Aptos"/>
              </a:rPr>
              <a:t>FIELD MISSIONS</a:t>
            </a:r>
          </a:p>
        </p:txBody>
      </p:sp>
      <p:sp>
        <p:nvSpPr>
          <p:cNvPr id="32" name="Rounded Rectangle 31"/>
          <p:cNvSpPr/>
          <p:nvPr/>
        </p:nvSpPr>
        <p:spPr>
          <a:xfrm>
            <a:off x="6784848" y="4251960"/>
            <a:ext cx="4928616" cy="1920240"/>
          </a:xfrm>
          <a:prstGeom prst="roundRect">
            <a:avLst/>
          </a:prstGeom>
          <a:solidFill>
            <a:srgbClr val="061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knowledge-check.png"/>
          <p:cNvPicPr>
            <a:picLocks noChangeAspect="1"/>
          </p:cNvPicPr>
          <p:nvPr/>
        </p:nvPicPr>
        <p:blipFill>
          <a:blip r:embed="rId3"/>
          <a:srcRect t="17242" b="17242"/>
          <a:stretch>
            <a:fillRect/>
          </a:stretch>
        </p:blipFill>
        <p:spPr>
          <a:xfrm>
            <a:off x="6867144" y="4334256"/>
            <a:ext cx="4764024" cy="1755648"/>
          </a:xfrm>
          <a:prstGeom prst="rect">
            <a:avLst/>
          </a:prstGeom>
        </p:spPr>
      </p:pic>
      <p:sp>
        <p:nvSpPr>
          <p:cNvPr id="34" name="Rectangle 33"/>
          <p:cNvSpPr/>
          <p:nvPr/>
        </p:nvSpPr>
        <p:spPr>
          <a:xfrm>
            <a:off x="6867144" y="4334256"/>
            <a:ext cx="4764024" cy="1755648"/>
          </a:xfrm>
          <a:prstGeom prst="rect">
            <a:avLst/>
          </a:prstGeom>
          <a:noFill/>
          <a:ln w="16510">
            <a:solidFill>
              <a:srgbClr val="2B5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902952" y="5715000"/>
            <a:ext cx="1389888" cy="228600"/>
          </a:xfrm>
          <a:prstGeom prst="roundRect">
            <a:avLst/>
          </a:prstGeom>
          <a:solidFill>
            <a:srgbClr val="0A281F"/>
          </a:solidFill>
          <a:ln w="10160">
            <a:solidFill>
              <a:srgbClr val="E4C9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02952" y="5769864"/>
            <a:ext cx="1389888" cy="91440"/>
          </a:xfrm>
          <a:prstGeom prst="rect">
            <a:avLst/>
          </a:prstGeom>
          <a:noFill/>
        </p:spPr>
        <p:txBody>
          <a:bodyPr wrap="square" lIns="18288" rIns="18288" tIns="18288" bIns="18288" anchor="t">
            <a:spAutoFit/>
          </a:bodyPr>
          <a:lstStyle/>
          <a:p>
            <a:pPr algn="ctr">
              <a:spcAft>
                <a:spcPts val="0"/>
              </a:spcAft>
            </a:pPr>
            <a:r>
              <a:rPr sz="640" b="1" i="0">
                <a:solidFill>
                  <a:srgbClr val="E4C967"/>
                </a:solidFill>
                <a:latin typeface="Aptos"/>
              </a:rPr>
              <a:t>NO GAMEPLAY PENALTY</a:t>
            </a:r>
          </a:p>
        </p:txBody>
      </p:sp>
      <p:sp>
        <p:nvSpPr>
          <p:cNvPr id="37" name="TextBox 36"/>
          <p:cNvSpPr txBox="1"/>
          <p:nvPr/>
        </p:nvSpPr>
        <p:spPr>
          <a:xfrm>
            <a:off x="5029200" y="4901184"/>
            <a:ext cx="1563624" cy="996696"/>
          </a:xfrm>
          <a:prstGeom prst="rect">
            <a:avLst/>
          </a:prstGeom>
          <a:noFill/>
        </p:spPr>
        <p:txBody>
          <a:bodyPr wrap="square" lIns="18288" rIns="18288" tIns="18288" bIns="18288" anchor="ctr">
            <a:spAutoFit/>
          </a:bodyPr>
          <a:lstStyle/>
          <a:p>
            <a:pPr algn="ctr">
              <a:spcAft>
                <a:spcPts val="0"/>
              </a:spcAft>
            </a:pPr>
            <a:r>
              <a:rPr sz="1350" b="1" i="0">
                <a:solidFill>
                  <a:srgbClr val="A7E87D"/>
                </a:solidFill>
                <a:latin typeface="Aptos"/>
              </a:rPr>
              <a:t>BUILD  →  MEASURE  →  ADAPT  →  LEAVE WILDNESS FOR TOMORROW</a:t>
            </a:r>
          </a:p>
        </p:txBody>
      </p:sp>
      <p:sp>
        <p:nvSpPr>
          <p:cNvPr id="38" name="Rectangle 37"/>
          <p:cNvSpPr/>
          <p:nvPr/>
        </p:nvSpPr>
        <p:spPr>
          <a:xfrm>
            <a:off x="475488" y="6556248"/>
            <a:ext cx="11237976" cy="10972"/>
          </a:xfrm>
          <a:prstGeom prst="rect">
            <a:avLst/>
          </a:prstGeom>
          <a:solidFill>
            <a:srgbClr val="2B5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 y="6592824"/>
            <a:ext cx="6583680" cy="164592"/>
          </a:xfrm>
          <a:prstGeom prst="rect">
            <a:avLst/>
          </a:prstGeom>
          <a:noFill/>
        </p:spPr>
        <p:txBody>
          <a:bodyPr wrap="square" lIns="18288" rIns="18288" tIns="18288" bIns="18288" anchor="t">
            <a:spAutoFit/>
          </a:bodyPr>
          <a:lstStyle/>
          <a:p>
            <a:pPr algn="l">
              <a:spcAft>
                <a:spcPts val="0"/>
              </a:spcAft>
            </a:pPr>
            <a:r>
              <a:rPr sz="750" b="1" i="0">
                <a:solidFill>
                  <a:srgbClr val="7F9B89"/>
                </a:solidFill>
                <a:latin typeface="Aptos"/>
              </a:rPr>
              <a:t>WILDROOT VILLAGE · BUILD A RESILIENT FUTURE</a:t>
            </a:r>
          </a:p>
        </p:txBody>
      </p:sp>
      <p:sp>
        <p:nvSpPr>
          <p:cNvPr id="40" name="TextBox 39"/>
          <p:cNvSpPr txBox="1"/>
          <p:nvPr/>
        </p:nvSpPr>
        <p:spPr>
          <a:xfrm>
            <a:off x="11384280" y="6574536"/>
            <a:ext cx="320040" cy="164592"/>
          </a:xfrm>
          <a:prstGeom prst="rect">
            <a:avLst/>
          </a:prstGeom>
          <a:noFill/>
        </p:spPr>
        <p:txBody>
          <a:bodyPr wrap="square" lIns="18288" rIns="18288" tIns="18288" bIns="18288" anchor="t">
            <a:spAutoFit/>
          </a:bodyPr>
          <a:lstStyle/>
          <a:p>
            <a:pPr algn="r">
              <a:spcAft>
                <a:spcPts val="0"/>
              </a:spcAft>
            </a:pPr>
            <a:r>
              <a:rPr sz="850" b="1" i="0">
                <a:solidFill>
                  <a:srgbClr val="7F9B89"/>
                </a:solidFill>
                <a:latin typeface="Aptos"/>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Wildroot Village — Ecosystem Game Presentation</dc:title>
  <dc:subject>A three-minute, eight-slide overview of the Ecosystem Village game</dc:subject>
  <dc:creator>James, age 13</dc:creator>
  <cp:keywords>ecosystem, village, game, sustainability, environmental learning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